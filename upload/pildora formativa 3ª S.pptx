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067" r:id="rId2"/>
    <p:sldId id="2071" r:id="rId3"/>
    <p:sldId id="2070" r:id="rId4"/>
    <p:sldId id="1993" r:id="rId5"/>
    <p:sldId id="1990" r:id="rId6"/>
    <p:sldId id="2076" r:id="rId7"/>
    <p:sldId id="2072" r:id="rId8"/>
    <p:sldId id="1999" r:id="rId9"/>
    <p:sldId id="2000" r:id="rId10"/>
    <p:sldId id="2078" r:id="rId11"/>
    <p:sldId id="2079" r:id="rId12"/>
    <p:sldId id="2080" r:id="rId13"/>
    <p:sldId id="2081" r:id="rId14"/>
    <p:sldId id="2082" r:id="rId15"/>
    <p:sldId id="2083" r:id="rId16"/>
    <p:sldId id="2084" r:id="rId17"/>
    <p:sldId id="2085" r:id="rId18"/>
    <p:sldId id="2086" r:id="rId19"/>
  </p:sldIdLst>
  <p:sldSz cx="9144000" cy="8999538"/>
  <p:notesSz cx="6797675" cy="9926638"/>
  <p:defaultTextStyle>
    <a:defPPr>
      <a:defRPr lang="en-US"/>
    </a:defPPr>
    <a:lvl1pPr marL="0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457102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8433" initials="5" lastIdx="8" clrIdx="0">
    <p:extLst>
      <p:ext uri="{19B8F6BF-5375-455C-9EA6-DF929625EA0E}">
        <p15:presenceInfo xmlns:p15="http://schemas.microsoft.com/office/powerpoint/2012/main" userId="58433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BB8FAE"/>
    <a:srgbClr val="CF7BBD"/>
    <a:srgbClr val="C488BD"/>
    <a:srgbClr val="ECFD4D"/>
    <a:srgbClr val="E9F456"/>
    <a:srgbClr val="D4E763"/>
    <a:srgbClr val="C5CA82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0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530" y="0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/>
          <a:lstStyle>
            <a:lvl1pPr algn="r">
              <a:defRPr sz="800"/>
            </a:lvl1pPr>
          </a:lstStyle>
          <a:p>
            <a:fld id="{F2DC4ACA-FBCA-40CB-8F08-0EEFA2B0FA4B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697038" y="1239838"/>
            <a:ext cx="34036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2975" tIns="31487" rIns="62975" bIns="31487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42" y="4777256"/>
            <a:ext cx="5438792" cy="3908964"/>
          </a:xfrm>
          <a:prstGeom prst="rect">
            <a:avLst/>
          </a:prstGeom>
        </p:spPr>
        <p:txBody>
          <a:bodyPr vert="horz" lIns="62975" tIns="31487" rIns="62975" bIns="31487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l">
              <a:defRPr sz="8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530" y="9429374"/>
            <a:ext cx="2946058" cy="497266"/>
          </a:xfrm>
          <a:prstGeom prst="rect">
            <a:avLst/>
          </a:prstGeom>
        </p:spPr>
        <p:txBody>
          <a:bodyPr vert="horz" lIns="62975" tIns="31487" rIns="62975" bIns="31487" rtlCol="0" anchor="b"/>
          <a:lstStyle>
            <a:lvl1pPr algn="r">
              <a:defRPr sz="800"/>
            </a:lvl1pPr>
          </a:lstStyle>
          <a:p>
            <a:fld id="{1B33A821-379D-4C65-ACAC-B55EE54F506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96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04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07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0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613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715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914204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297103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285887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75896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377845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3382733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0C9C06B-A6E7-441A-BBF9-80C20A2DC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62DD3C2-6307-4CB7-9FB3-AC5CA680E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s-ES">
                <a:latin typeface="Arial" panose="020B0604020202020204" pitchFamily="34" charset="0"/>
              </a:rPr>
              <a:t>Explain that this matrix will be the foundation of all 5S inspection activity. The definitions will be explained further as we go through the five steps.</a:t>
            </a:r>
          </a:p>
        </p:txBody>
      </p:sp>
      <p:sp>
        <p:nvSpPr>
          <p:cNvPr id="14340" name="3 Marcador de pie de página">
            <a:extLst>
              <a:ext uri="{FF2B5EF4-FFF2-40B4-BE49-F238E27FC236}">
                <a16:creationId xmlns:a16="http://schemas.microsoft.com/office/drawing/2014/main" id="{09961DB4-3C52-42ED-9482-FECA03CE48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1670" indent="-196796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87184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02058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16931" indent="-157437" defTabSz="627561">
              <a:spcBef>
                <a:spcPct val="30000"/>
              </a:spcBef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1805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46679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61552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676426" indent="-157437" defTabSz="627561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 altLang="es-ES"/>
              <a:t>ENERO 09</a:t>
            </a:r>
          </a:p>
        </p:txBody>
      </p:sp>
    </p:spTree>
    <p:extLst>
      <p:ext uri="{BB962C8B-B14F-4D97-AF65-F5344CB8AC3E}">
        <p14:creationId xmlns:p14="http://schemas.microsoft.com/office/powerpoint/2010/main" val="1315220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185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7248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9893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751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040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373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366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372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7038" y="1239838"/>
            <a:ext cx="3403600" cy="33512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65C5D-0DD7-4929-B323-1B2CC097029F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47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2843"/>
            <a:ext cx="7772400" cy="313317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726844"/>
            <a:ext cx="6858000" cy="217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1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5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43640"/>
            <a:ext cx="7886700" cy="374355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022619"/>
            <a:ext cx="7886700" cy="19686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908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395714"/>
            <a:ext cx="3886200" cy="57101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7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9149"/>
            <a:ext cx="7886700" cy="173949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2206142"/>
            <a:ext cx="3868340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3287331"/>
            <a:ext cx="3868340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5" y="2206142"/>
            <a:ext cx="3887391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5" y="3287331"/>
            <a:ext cx="3887391" cy="48351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39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42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9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295775"/>
            <a:ext cx="4629150" cy="63955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09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95775"/>
            <a:ext cx="4629150" cy="639550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1"/>
            <a:ext cx="2949178" cy="5001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70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09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79139"/>
            <a:ext cx="1971675" cy="76266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4" y="479139"/>
            <a:ext cx="5800725" cy="762669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8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79149"/>
            <a:ext cx="7886700" cy="1739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395714"/>
            <a:ext cx="7886700" cy="571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5FCC9-4053-43A1-BC27-B4EC7712AD4F}" type="datetimeFigureOut">
              <a:rPr lang="es-ES" smtClean="0"/>
              <a:t>10/07/2020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341250"/>
            <a:ext cx="30861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341250"/>
            <a:ext cx="2057400" cy="479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BD586-40ED-4B87-A6EF-B58322D1FD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43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sv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svg"/><Relationship Id="rId20" Type="http://schemas.openxmlformats.org/officeDocument/2006/relationships/image" Target="../media/image21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svg"/><Relationship Id="rId28" Type="http://schemas.openxmlformats.org/officeDocument/2006/relationships/image" Target="../media/image1.jp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10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5419527F-751A-4DA1-A7C7-6E0E7FBB8461}"/>
              </a:ext>
            </a:extLst>
          </p:cNvPr>
          <p:cNvGrpSpPr>
            <a:grpSpLocks noChangeAspect="1"/>
          </p:cNvGrpSpPr>
          <p:nvPr/>
        </p:nvGrpSpPr>
        <p:grpSpPr>
          <a:xfrm>
            <a:off x="1918429" y="1580015"/>
            <a:ext cx="5458144" cy="5966476"/>
            <a:chOff x="3551507" y="1122297"/>
            <a:chExt cx="3414218" cy="3732186"/>
          </a:xfrm>
        </p:grpSpPr>
        <p:grpSp>
          <p:nvGrpSpPr>
            <p:cNvPr id="181" name="Grupo 180">
              <a:extLst>
                <a:ext uri="{FF2B5EF4-FFF2-40B4-BE49-F238E27FC236}">
                  <a16:creationId xmlns:a16="http://schemas.microsoft.com/office/drawing/2014/main" id="{7ADFA269-7047-41B9-B982-BB79A9440D34}"/>
                </a:ext>
              </a:extLst>
            </p:cNvPr>
            <p:cNvGrpSpPr/>
            <p:nvPr/>
          </p:nvGrpSpPr>
          <p:grpSpPr>
            <a:xfrm>
              <a:off x="4076464" y="1907808"/>
              <a:ext cx="2307001" cy="2385711"/>
              <a:chOff x="4085989" y="2003058"/>
              <a:chExt cx="2307001" cy="2385711"/>
            </a:xfrm>
          </p:grpSpPr>
          <p:grpSp>
            <p:nvGrpSpPr>
              <p:cNvPr id="180" name="Grupo 179">
                <a:extLst>
                  <a:ext uri="{FF2B5EF4-FFF2-40B4-BE49-F238E27FC236}">
                    <a16:creationId xmlns:a16="http://schemas.microsoft.com/office/drawing/2014/main" id="{9C391096-616C-4742-911B-4461CD8B7C9C}"/>
                  </a:ext>
                </a:extLst>
              </p:cNvPr>
              <p:cNvGrpSpPr/>
              <p:nvPr/>
            </p:nvGrpSpPr>
            <p:grpSpPr>
              <a:xfrm rot="4317689">
                <a:off x="3827256" y="2814601"/>
                <a:ext cx="1693766" cy="1176299"/>
                <a:chOff x="3372049" y="3133790"/>
                <a:chExt cx="1706744" cy="1176299"/>
              </a:xfrm>
            </p:grpSpPr>
            <p:sp>
              <p:nvSpPr>
                <p:cNvPr id="83" name="Triángulo isósceles 82">
                  <a:extLst>
                    <a:ext uri="{FF2B5EF4-FFF2-40B4-BE49-F238E27FC236}">
                      <a16:creationId xmlns:a16="http://schemas.microsoft.com/office/drawing/2014/main" id="{1BD4EB69-6B49-4797-8967-8A7EF72CB4F1}"/>
                    </a:ext>
                  </a:extLst>
                </p:cNvPr>
                <p:cNvSpPr/>
                <p:nvPr/>
              </p:nvSpPr>
              <p:spPr>
                <a:xfrm>
                  <a:off x="3372049" y="3133790"/>
                  <a:ext cx="1706744" cy="1176299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" name="Elipse 83">
                  <a:extLst>
                    <a:ext uri="{FF2B5EF4-FFF2-40B4-BE49-F238E27FC236}">
                      <a16:creationId xmlns:a16="http://schemas.microsoft.com/office/drawing/2014/main" id="{B363FFC9-33DC-4BAA-AED1-23373F03EDCD}"/>
                    </a:ext>
                  </a:extLst>
                </p:cNvPr>
                <p:cNvSpPr/>
                <p:nvPr/>
              </p:nvSpPr>
              <p:spPr>
                <a:xfrm rot="17282311">
                  <a:off x="3953031" y="3686218"/>
                  <a:ext cx="538227" cy="538179"/>
                </a:xfrm>
                <a:prstGeom prst="ellipse">
                  <a:avLst/>
                </a:prstGeom>
                <a:solidFill>
                  <a:srgbClr val="FF3399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800" dirty="0"/>
                    <a:t>4</a:t>
                  </a:r>
                </a:p>
              </p:txBody>
            </p:sp>
          </p:grpSp>
          <p:grpSp>
            <p:nvGrpSpPr>
              <p:cNvPr id="179" name="Grupo 178">
                <a:extLst>
                  <a:ext uri="{FF2B5EF4-FFF2-40B4-BE49-F238E27FC236}">
                    <a16:creationId xmlns:a16="http://schemas.microsoft.com/office/drawing/2014/main" id="{273057E9-75B2-48A8-9770-95C93C984DAE}"/>
                  </a:ext>
                </a:extLst>
              </p:cNvPr>
              <p:cNvGrpSpPr/>
              <p:nvPr/>
            </p:nvGrpSpPr>
            <p:grpSpPr>
              <a:xfrm>
                <a:off x="4376738" y="2544923"/>
                <a:ext cx="2016252" cy="1843846"/>
                <a:chOff x="4371976" y="2540335"/>
                <a:chExt cx="2016252" cy="1843846"/>
              </a:xfrm>
            </p:grpSpPr>
            <p:grpSp>
              <p:nvGrpSpPr>
                <p:cNvPr id="178" name="Grupo 177">
                  <a:extLst>
                    <a:ext uri="{FF2B5EF4-FFF2-40B4-BE49-F238E27FC236}">
                      <a16:creationId xmlns:a16="http://schemas.microsoft.com/office/drawing/2014/main" id="{1A5843F7-CE7F-4682-8F91-D1CA80A3FB68}"/>
                    </a:ext>
                  </a:extLst>
                </p:cNvPr>
                <p:cNvGrpSpPr/>
                <p:nvPr/>
              </p:nvGrpSpPr>
              <p:grpSpPr>
                <a:xfrm>
                  <a:off x="4371976" y="3207882"/>
                  <a:ext cx="1723344" cy="1176299"/>
                  <a:chOff x="4372027" y="3200577"/>
                  <a:chExt cx="1715872" cy="1189322"/>
                </a:xfrm>
              </p:grpSpPr>
              <p:sp>
                <p:nvSpPr>
                  <p:cNvPr id="177" name="Triángulo isósceles 176">
                    <a:extLst>
                      <a:ext uri="{FF2B5EF4-FFF2-40B4-BE49-F238E27FC236}">
                        <a16:creationId xmlns:a16="http://schemas.microsoft.com/office/drawing/2014/main" id="{2B454FAA-A6AB-43F2-862D-8BB2CD09C356}"/>
                      </a:ext>
                    </a:extLst>
                  </p:cNvPr>
                  <p:cNvSpPr/>
                  <p:nvPr/>
                </p:nvSpPr>
                <p:spPr>
                  <a:xfrm>
                    <a:off x="4372027" y="3200577"/>
                    <a:ext cx="1715872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55" name="Elipse 54">
                    <a:extLst>
                      <a:ext uri="{FF2B5EF4-FFF2-40B4-BE49-F238E27FC236}">
                        <a16:creationId xmlns:a16="http://schemas.microsoft.com/office/drawing/2014/main" id="{427DD135-08C3-4F1B-A525-52901046F755}"/>
                      </a:ext>
                    </a:extLst>
                  </p:cNvPr>
                  <p:cNvSpPr/>
                  <p:nvPr/>
                </p:nvSpPr>
                <p:spPr>
                  <a:xfrm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3</a:t>
                    </a:r>
                  </a:p>
                </p:txBody>
              </p:sp>
            </p:grpSp>
            <p:grpSp>
              <p:nvGrpSpPr>
                <p:cNvPr id="60" name="Grupo 59">
                  <a:extLst>
                    <a:ext uri="{FF2B5EF4-FFF2-40B4-BE49-F238E27FC236}">
                      <a16:creationId xmlns:a16="http://schemas.microsoft.com/office/drawing/2014/main" id="{3E7A9A44-56BD-4C25-BD62-3E58EF80908D}"/>
                    </a:ext>
                  </a:extLst>
                </p:cNvPr>
                <p:cNvGrpSpPr/>
                <p:nvPr/>
              </p:nvGrpSpPr>
              <p:grpSpPr>
                <a:xfrm rot="17263141">
                  <a:off x="4948532" y="2812117"/>
                  <a:ext cx="1711477" cy="1167914"/>
                  <a:chOff x="4391020" y="3221266"/>
                  <a:chExt cx="1704056" cy="1180844"/>
                </a:xfrm>
              </p:grpSpPr>
              <p:sp>
                <p:nvSpPr>
                  <p:cNvPr id="61" name="Triángulo isósceles 60">
                    <a:extLst>
                      <a:ext uri="{FF2B5EF4-FFF2-40B4-BE49-F238E27FC236}">
                        <a16:creationId xmlns:a16="http://schemas.microsoft.com/office/drawing/2014/main" id="{9E019693-B075-40DC-BBEF-241C842EA9E4}"/>
                      </a:ext>
                    </a:extLst>
                  </p:cNvPr>
                  <p:cNvSpPr/>
                  <p:nvPr/>
                </p:nvSpPr>
                <p:spPr>
                  <a:xfrm>
                    <a:off x="4391020" y="3221266"/>
                    <a:ext cx="1704056" cy="1180844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62" name="Elipse 61">
                    <a:extLst>
                      <a:ext uri="{FF2B5EF4-FFF2-40B4-BE49-F238E27FC236}">
                        <a16:creationId xmlns:a16="http://schemas.microsoft.com/office/drawing/2014/main" id="{18B64407-5BD4-49B3-A4E9-43164526B952}"/>
                      </a:ext>
                    </a:extLst>
                  </p:cNvPr>
                  <p:cNvSpPr/>
                  <p:nvPr/>
                </p:nvSpPr>
                <p:spPr>
                  <a:xfrm rot="4336859">
                    <a:off x="4959307" y="3769884"/>
                    <a:ext cx="548356" cy="531771"/>
                  </a:xfrm>
                  <a:prstGeom prst="ellipse">
                    <a:avLst/>
                  </a:prstGeom>
                  <a:solidFill>
                    <a:schemeClr val="accent5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2</a:t>
                    </a:r>
                  </a:p>
                </p:txBody>
              </p:sp>
            </p:grpSp>
          </p:grpSp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C94BABAB-F43F-4F2C-9FD7-B74236964A9B}"/>
                  </a:ext>
                </a:extLst>
              </p:cNvPr>
              <p:cNvGrpSpPr/>
              <p:nvPr/>
            </p:nvGrpSpPr>
            <p:grpSpPr>
              <a:xfrm rot="12958865">
                <a:off x="4268758" y="2003058"/>
                <a:ext cx="1999048" cy="1851382"/>
                <a:chOff x="4381015" y="2543234"/>
                <a:chExt cx="1999048" cy="1851382"/>
              </a:xfrm>
            </p:grpSpPr>
            <p:grpSp>
              <p:nvGrpSpPr>
                <p:cNvPr id="74" name="Grupo 73">
                  <a:extLst>
                    <a:ext uri="{FF2B5EF4-FFF2-40B4-BE49-F238E27FC236}">
                      <a16:creationId xmlns:a16="http://schemas.microsoft.com/office/drawing/2014/main" id="{43748CAE-DE2C-478F-A5B9-A8117B3B08DB}"/>
                    </a:ext>
                  </a:extLst>
                </p:cNvPr>
                <p:cNvGrpSpPr/>
                <p:nvPr/>
              </p:nvGrpSpPr>
              <p:grpSpPr>
                <a:xfrm>
                  <a:off x="4381015" y="3218317"/>
                  <a:ext cx="1706744" cy="1176299"/>
                  <a:chOff x="4381027" y="3211128"/>
                  <a:chExt cx="1699344" cy="1189322"/>
                </a:xfrm>
              </p:grpSpPr>
              <p:sp>
                <p:nvSpPr>
                  <p:cNvPr id="78" name="Triángulo isósceles 77">
                    <a:extLst>
                      <a:ext uri="{FF2B5EF4-FFF2-40B4-BE49-F238E27FC236}">
                        <a16:creationId xmlns:a16="http://schemas.microsoft.com/office/drawing/2014/main" id="{BA81E658-3A24-4184-B78D-96E819E072C6}"/>
                      </a:ext>
                    </a:extLst>
                  </p:cNvPr>
                  <p:cNvSpPr/>
                  <p:nvPr/>
                </p:nvSpPr>
                <p:spPr>
                  <a:xfrm>
                    <a:off x="4381027" y="3211128"/>
                    <a:ext cx="1699344" cy="1189322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9" name="Elipse 78">
                    <a:extLst>
                      <a:ext uri="{FF2B5EF4-FFF2-40B4-BE49-F238E27FC236}">
                        <a16:creationId xmlns:a16="http://schemas.microsoft.com/office/drawing/2014/main" id="{BCBE372E-4A68-493B-84E3-BC64406E2AC7}"/>
                      </a:ext>
                    </a:extLst>
                  </p:cNvPr>
                  <p:cNvSpPr/>
                  <p:nvPr/>
                </p:nvSpPr>
                <p:spPr>
                  <a:xfrm rot="8641135">
                    <a:off x="4963486" y="3765769"/>
                    <a:ext cx="540000" cy="5400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1</a:t>
                    </a:r>
                  </a:p>
                </p:txBody>
              </p:sp>
            </p:grpSp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A260E830-772F-4CEF-9AA7-175E5C0564F4}"/>
                    </a:ext>
                  </a:extLst>
                </p:cNvPr>
                <p:cNvGrpSpPr/>
                <p:nvPr/>
              </p:nvGrpSpPr>
              <p:grpSpPr>
                <a:xfrm rot="17263141">
                  <a:off x="4936804" y="2811453"/>
                  <a:ext cx="1711477" cy="1175040"/>
                  <a:chOff x="4384717" y="3207262"/>
                  <a:chExt cx="1704056" cy="1188049"/>
                </a:xfrm>
              </p:grpSpPr>
              <p:sp>
                <p:nvSpPr>
                  <p:cNvPr id="76" name="Triángulo isósceles 75">
                    <a:extLst>
                      <a:ext uri="{FF2B5EF4-FFF2-40B4-BE49-F238E27FC236}">
                        <a16:creationId xmlns:a16="http://schemas.microsoft.com/office/drawing/2014/main" id="{D406979F-5934-48DA-9F09-BB9E0FAA4B89}"/>
                      </a:ext>
                    </a:extLst>
                  </p:cNvPr>
                  <p:cNvSpPr/>
                  <p:nvPr/>
                </p:nvSpPr>
                <p:spPr>
                  <a:xfrm>
                    <a:off x="4384717" y="3207262"/>
                    <a:ext cx="1704056" cy="1188049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  <p:sp>
                <p:nvSpPr>
                  <p:cNvPr id="77" name="Elipse 76">
                    <a:extLst>
                      <a:ext uri="{FF2B5EF4-FFF2-40B4-BE49-F238E27FC236}">
                        <a16:creationId xmlns:a16="http://schemas.microsoft.com/office/drawing/2014/main" id="{E478D240-9A0E-4679-83E1-E0C7B6D2BECC}"/>
                      </a:ext>
                    </a:extLst>
                  </p:cNvPr>
                  <p:cNvSpPr/>
                  <p:nvPr/>
                </p:nvSpPr>
                <p:spPr>
                  <a:xfrm rot="12977994">
                    <a:off x="4963485" y="3765769"/>
                    <a:ext cx="540000" cy="540000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sz="4800" dirty="0"/>
                      <a:t>5</a:t>
                    </a:r>
                  </a:p>
                </p:txBody>
              </p:sp>
            </p:grpSp>
          </p:grpSp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F9043ECF-1CB0-4CBD-A2F9-2543DA3C4DBE}"/>
                  </a:ext>
                </a:extLst>
              </p:cNvPr>
              <p:cNvSpPr/>
              <p:nvPr/>
            </p:nvSpPr>
            <p:spPr>
              <a:xfrm>
                <a:off x="4774837" y="2740716"/>
                <a:ext cx="936000" cy="936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6600" b="1" dirty="0"/>
                  <a:t>5S</a:t>
                </a:r>
              </a:p>
            </p:txBody>
          </p:sp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E33ACCA7-13CB-4EAE-B3DE-990E0A40ABCD}"/>
                </a:ext>
              </a:extLst>
            </p:cNvPr>
            <p:cNvGrpSpPr/>
            <p:nvPr/>
          </p:nvGrpSpPr>
          <p:grpSpPr>
            <a:xfrm>
              <a:off x="5245436" y="1627371"/>
              <a:ext cx="1720289" cy="958877"/>
              <a:chOff x="5245436" y="1627371"/>
              <a:chExt cx="1720289" cy="958877"/>
            </a:xfrm>
          </p:grpSpPr>
          <p:grpSp>
            <p:nvGrpSpPr>
              <p:cNvPr id="187" name="Grupo 186">
                <a:extLst>
                  <a:ext uri="{FF2B5EF4-FFF2-40B4-BE49-F238E27FC236}">
                    <a16:creationId xmlns:a16="http://schemas.microsoft.com/office/drawing/2014/main" id="{4D43437D-761B-4F92-9A9B-F48CE74E09D3}"/>
                  </a:ext>
                </a:extLst>
              </p:cNvPr>
              <p:cNvGrpSpPr/>
              <p:nvPr/>
            </p:nvGrpSpPr>
            <p:grpSpPr>
              <a:xfrm>
                <a:off x="5245436" y="1627371"/>
                <a:ext cx="1445845" cy="958877"/>
                <a:chOff x="5257971" y="1613559"/>
                <a:chExt cx="1445845" cy="958877"/>
              </a:xfrm>
            </p:grpSpPr>
            <p:sp>
              <p:nvSpPr>
                <p:cNvPr id="101" name="Rectángulo 100">
                  <a:extLst>
                    <a:ext uri="{FF2B5EF4-FFF2-40B4-BE49-F238E27FC236}">
                      <a16:creationId xmlns:a16="http://schemas.microsoft.com/office/drawing/2014/main" id="{9B594084-646C-4552-8B4A-1346E51C198D}"/>
                    </a:ext>
                  </a:extLst>
                </p:cNvPr>
                <p:cNvSpPr/>
                <p:nvPr/>
              </p:nvSpPr>
              <p:spPr>
                <a:xfrm rot="2169494">
                  <a:off x="6358216" y="2415274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86" name="Grupo 185">
                  <a:extLst>
                    <a:ext uri="{FF2B5EF4-FFF2-40B4-BE49-F238E27FC236}">
                      <a16:creationId xmlns:a16="http://schemas.microsoft.com/office/drawing/2014/main" id="{3CDD9AF5-97D5-45A6-864D-A04D058B8AB0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72639" cy="758925"/>
                  <a:chOff x="5257971" y="1613559"/>
                  <a:chExt cx="1172639" cy="758925"/>
                </a:xfrm>
              </p:grpSpPr>
              <p:grpSp>
                <p:nvGrpSpPr>
                  <p:cNvPr id="184" name="Grupo 183">
                    <a:extLst>
                      <a:ext uri="{FF2B5EF4-FFF2-40B4-BE49-F238E27FC236}">
                        <a16:creationId xmlns:a16="http://schemas.microsoft.com/office/drawing/2014/main" id="{3EC6E8CC-C0FA-47B6-B626-C161A99F533B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183" name="Rectángulo 182">
                      <a:extLst>
                        <a:ext uri="{FF2B5EF4-FFF2-40B4-BE49-F238E27FC236}">
                          <a16:creationId xmlns:a16="http://schemas.microsoft.com/office/drawing/2014/main" id="{2E23A034-1082-493B-990E-E21457A2ADC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95" name="Rectángulo 94">
                      <a:extLst>
                        <a:ext uri="{FF2B5EF4-FFF2-40B4-BE49-F238E27FC236}">
                          <a16:creationId xmlns:a16="http://schemas.microsoft.com/office/drawing/2014/main" id="{AB00AD9C-780D-4245-84E2-BCD41E5F6991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02" name="Grupo 101">
                    <a:extLst>
                      <a:ext uri="{FF2B5EF4-FFF2-40B4-BE49-F238E27FC236}">
                        <a16:creationId xmlns:a16="http://schemas.microsoft.com/office/drawing/2014/main" id="{F8F04F3A-B929-4468-A339-521DBD33AA86}"/>
                      </a:ext>
                    </a:extLst>
                  </p:cNvPr>
                  <p:cNvGrpSpPr/>
                  <p:nvPr/>
                </p:nvGrpSpPr>
                <p:grpSpPr>
                  <a:xfrm>
                    <a:off x="5811050" y="2015371"/>
                    <a:ext cx="619560" cy="357113"/>
                    <a:chOff x="5257971" y="1608796"/>
                    <a:chExt cx="619560" cy="357113"/>
                  </a:xfrm>
                </p:grpSpPr>
                <p:sp>
                  <p:nvSpPr>
                    <p:cNvPr id="103" name="Rectángulo 102">
                      <a:extLst>
                        <a:ext uri="{FF2B5EF4-FFF2-40B4-BE49-F238E27FC236}">
                          <a16:creationId xmlns:a16="http://schemas.microsoft.com/office/drawing/2014/main" id="{83AF5EA2-CFC6-4A76-933F-8287FBF9EE8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0879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04" name="Rectángulo 103">
                      <a:extLst>
                        <a:ext uri="{FF2B5EF4-FFF2-40B4-BE49-F238E27FC236}">
                          <a16:creationId xmlns:a16="http://schemas.microsoft.com/office/drawing/2014/main" id="{71A3DA4A-7B69-445F-AAB4-C015998F201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08747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91" name="Flecha: pentágono 190">
                <a:extLst>
                  <a:ext uri="{FF2B5EF4-FFF2-40B4-BE49-F238E27FC236}">
                    <a16:creationId xmlns:a16="http://schemas.microsoft.com/office/drawing/2014/main" id="{494E1533-AB2F-4973-89E9-6EC9C1E655F1}"/>
                  </a:ext>
                </a:extLst>
              </p:cNvPr>
              <p:cNvSpPr/>
              <p:nvPr/>
            </p:nvSpPr>
            <p:spPr>
              <a:xfrm rot="18359333">
                <a:off x="5975581" y="1064741"/>
                <a:ext cx="276225" cy="1704063"/>
              </a:xfrm>
              <a:prstGeom prst="homePlate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REVISAR</a:t>
                </a:r>
              </a:p>
            </p:txBody>
          </p:sp>
        </p:grpSp>
        <p:grpSp>
          <p:nvGrpSpPr>
            <p:cNvPr id="146" name="Grupo 145">
              <a:extLst>
                <a:ext uri="{FF2B5EF4-FFF2-40B4-BE49-F238E27FC236}">
                  <a16:creationId xmlns:a16="http://schemas.microsoft.com/office/drawing/2014/main" id="{8D405F34-D589-4966-9C4A-22CDC4B24567}"/>
                </a:ext>
              </a:extLst>
            </p:cNvPr>
            <p:cNvGrpSpPr/>
            <p:nvPr/>
          </p:nvGrpSpPr>
          <p:grpSpPr>
            <a:xfrm rot="17270646">
              <a:off x="3672221" y="1503003"/>
              <a:ext cx="1720290" cy="958877"/>
              <a:chOff x="5241590" y="1634868"/>
              <a:chExt cx="1720290" cy="958877"/>
            </a:xfrm>
          </p:grpSpPr>
          <p:grpSp>
            <p:nvGrpSpPr>
              <p:cNvPr id="147" name="Grupo 146">
                <a:extLst>
                  <a:ext uri="{FF2B5EF4-FFF2-40B4-BE49-F238E27FC236}">
                    <a16:creationId xmlns:a16="http://schemas.microsoft.com/office/drawing/2014/main" id="{C92529C2-A75E-4A4E-9C12-AB9D3271A3DE}"/>
                  </a:ext>
                </a:extLst>
              </p:cNvPr>
              <p:cNvGrpSpPr/>
              <p:nvPr/>
            </p:nvGrpSpPr>
            <p:grpSpPr>
              <a:xfrm>
                <a:off x="5241590" y="1634868"/>
                <a:ext cx="1445845" cy="958877"/>
                <a:chOff x="5254125" y="1621056"/>
                <a:chExt cx="1445845" cy="958877"/>
              </a:xfrm>
            </p:grpSpPr>
            <p:sp>
              <p:nvSpPr>
                <p:cNvPr id="149" name="Rectángulo 148">
                  <a:extLst>
                    <a:ext uri="{FF2B5EF4-FFF2-40B4-BE49-F238E27FC236}">
                      <a16:creationId xmlns:a16="http://schemas.microsoft.com/office/drawing/2014/main" id="{0C3EFC84-D3B6-421C-BC4F-3865B99C2378}"/>
                    </a:ext>
                  </a:extLst>
                </p:cNvPr>
                <p:cNvSpPr/>
                <p:nvPr/>
              </p:nvSpPr>
              <p:spPr>
                <a:xfrm rot="2169494">
                  <a:off x="6354370" y="2422771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5</a:t>
                  </a:r>
                </a:p>
              </p:txBody>
            </p:sp>
            <p:grpSp>
              <p:nvGrpSpPr>
                <p:cNvPr id="150" name="Grupo 149">
                  <a:extLst>
                    <a:ext uri="{FF2B5EF4-FFF2-40B4-BE49-F238E27FC236}">
                      <a16:creationId xmlns:a16="http://schemas.microsoft.com/office/drawing/2014/main" id="{B1E7DBE7-A39A-43C5-B7E9-D12DD3B8B8FD}"/>
                    </a:ext>
                  </a:extLst>
                </p:cNvPr>
                <p:cNvGrpSpPr/>
                <p:nvPr/>
              </p:nvGrpSpPr>
              <p:grpSpPr>
                <a:xfrm>
                  <a:off x="5254125" y="1621056"/>
                  <a:ext cx="1172638" cy="758927"/>
                  <a:chOff x="5254125" y="1621056"/>
                  <a:chExt cx="1172638" cy="758927"/>
                </a:xfrm>
              </p:grpSpPr>
              <p:grpSp>
                <p:nvGrpSpPr>
                  <p:cNvPr id="151" name="Grupo 150">
                    <a:extLst>
                      <a:ext uri="{FF2B5EF4-FFF2-40B4-BE49-F238E27FC236}">
                        <a16:creationId xmlns:a16="http://schemas.microsoft.com/office/drawing/2014/main" id="{D6D49A26-D4D9-4DA1-A493-B5A69959494A}"/>
                      </a:ext>
                    </a:extLst>
                  </p:cNvPr>
                  <p:cNvGrpSpPr/>
                  <p:nvPr/>
                </p:nvGrpSpPr>
                <p:grpSpPr>
                  <a:xfrm>
                    <a:off x="5254125" y="1621056"/>
                    <a:ext cx="619559" cy="357115"/>
                    <a:chOff x="5254125" y="1621056"/>
                    <a:chExt cx="619559" cy="357115"/>
                  </a:xfrm>
                </p:grpSpPr>
                <p:sp>
                  <p:nvSpPr>
                    <p:cNvPr id="155" name="Rectángulo 154">
                      <a:extLst>
                        <a:ext uri="{FF2B5EF4-FFF2-40B4-BE49-F238E27FC236}">
                          <a16:creationId xmlns:a16="http://schemas.microsoft.com/office/drawing/2014/main" id="{40B92842-0402-4EBB-9346-FA8751893C3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5" y="162105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1</a:t>
                      </a:r>
                    </a:p>
                  </p:txBody>
                </p:sp>
                <p:sp>
                  <p:nvSpPr>
                    <p:cNvPr id="156" name="Rectángulo 155">
                      <a:extLst>
                        <a:ext uri="{FF2B5EF4-FFF2-40B4-BE49-F238E27FC236}">
                          <a16:creationId xmlns:a16="http://schemas.microsoft.com/office/drawing/2014/main" id="{02CB4AAB-A97B-4C6B-B7D8-14F02C0D1C9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2100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  <p:grpSp>
                <p:nvGrpSpPr>
                  <p:cNvPr id="152" name="Grupo 151">
                    <a:extLst>
                      <a:ext uri="{FF2B5EF4-FFF2-40B4-BE49-F238E27FC236}">
                        <a16:creationId xmlns:a16="http://schemas.microsoft.com/office/drawing/2014/main" id="{C7C1B74D-3FF5-49C7-B701-6663E51F1CC0}"/>
                      </a:ext>
                    </a:extLst>
                  </p:cNvPr>
                  <p:cNvGrpSpPr/>
                  <p:nvPr/>
                </p:nvGrpSpPr>
                <p:grpSpPr>
                  <a:xfrm>
                    <a:off x="5807203" y="2022870"/>
                    <a:ext cx="619560" cy="357113"/>
                    <a:chOff x="5254124" y="1616295"/>
                    <a:chExt cx="619560" cy="357113"/>
                  </a:xfrm>
                </p:grpSpPr>
                <p:sp>
                  <p:nvSpPr>
                    <p:cNvPr id="153" name="Rectángulo 152">
                      <a:extLst>
                        <a:ext uri="{FF2B5EF4-FFF2-40B4-BE49-F238E27FC236}">
                          <a16:creationId xmlns:a16="http://schemas.microsoft.com/office/drawing/2014/main" id="{7C567F9E-D71C-4915-BDD9-4C1D508B734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4124" y="1616295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154" name="Rectángulo 153">
                      <a:extLst>
                        <a:ext uri="{FF2B5EF4-FFF2-40B4-BE49-F238E27FC236}">
                          <a16:creationId xmlns:a16="http://schemas.microsoft.com/office/drawing/2014/main" id="{57C68B16-8171-4447-9459-BB57A7BAA99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28084" y="181624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</p:grpSp>
          </p:grpSp>
          <p:sp>
            <p:nvSpPr>
              <p:cNvPr id="148" name="Flecha: pentágono 147">
                <a:extLst>
                  <a:ext uri="{FF2B5EF4-FFF2-40B4-BE49-F238E27FC236}">
                    <a16:creationId xmlns:a16="http://schemas.microsoft.com/office/drawing/2014/main" id="{EEE8A398-0B97-41DB-8131-F55CA998A351}"/>
                  </a:ext>
                </a:extLst>
              </p:cNvPr>
              <p:cNvSpPr/>
              <p:nvPr/>
            </p:nvSpPr>
            <p:spPr>
              <a:xfrm rot="18359333">
                <a:off x="5971736" y="1072237"/>
                <a:ext cx="276225" cy="1704063"/>
              </a:xfrm>
              <a:prstGeom prst="homePlate">
                <a:avLst/>
              </a:prstGeom>
              <a:solidFill>
                <a:schemeClr val="accent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" rtlCol="0" anchor="ctr"/>
              <a:lstStyle/>
              <a:p>
                <a:pPr algn="ctr"/>
                <a:r>
                  <a:rPr lang="es-ES" b="1" dirty="0"/>
                  <a:t>MANTENER</a:t>
                </a:r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25DEEB60-0458-4D5B-9BBC-A9C44F30322A}"/>
                </a:ext>
              </a:extLst>
            </p:cNvPr>
            <p:cNvGrpSpPr/>
            <p:nvPr/>
          </p:nvGrpSpPr>
          <p:grpSpPr>
            <a:xfrm rot="4328207">
              <a:off x="3177909" y="3038832"/>
              <a:ext cx="1704063" cy="956867"/>
              <a:chOff x="4877730" y="4736968"/>
              <a:chExt cx="1704063" cy="956867"/>
            </a:xfrm>
          </p:grpSpPr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8DBE16C1-1711-440E-9A78-9CB2E200652D}"/>
                  </a:ext>
                </a:extLst>
              </p:cNvPr>
              <p:cNvGrpSpPr/>
              <p:nvPr/>
            </p:nvGrpSpPr>
            <p:grpSpPr>
              <a:xfrm rot="19421976">
                <a:off x="5012216" y="4736968"/>
                <a:ext cx="1439125" cy="956867"/>
                <a:chOff x="5267632" y="1606582"/>
                <a:chExt cx="1439125" cy="956867"/>
              </a:xfrm>
            </p:grpSpPr>
            <p:sp>
              <p:nvSpPr>
                <p:cNvPr id="199" name="Rectángulo 198">
                  <a:extLst>
                    <a:ext uri="{FF2B5EF4-FFF2-40B4-BE49-F238E27FC236}">
                      <a16:creationId xmlns:a16="http://schemas.microsoft.com/office/drawing/2014/main" id="{6A512179-C76F-4B40-8B36-A612F4637A1D}"/>
                    </a:ext>
                  </a:extLst>
                </p:cNvPr>
                <p:cNvSpPr/>
                <p:nvPr/>
              </p:nvSpPr>
              <p:spPr>
                <a:xfrm rot="2169494">
                  <a:off x="6361157" y="2406287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00" name="Grupo 199">
                  <a:extLst>
                    <a:ext uri="{FF2B5EF4-FFF2-40B4-BE49-F238E27FC236}">
                      <a16:creationId xmlns:a16="http://schemas.microsoft.com/office/drawing/2014/main" id="{2AB8241C-F319-4493-A502-E9713C59E1D2}"/>
                    </a:ext>
                  </a:extLst>
                </p:cNvPr>
                <p:cNvGrpSpPr/>
                <p:nvPr/>
              </p:nvGrpSpPr>
              <p:grpSpPr>
                <a:xfrm>
                  <a:off x="5267632" y="1606582"/>
                  <a:ext cx="1180862" cy="767915"/>
                  <a:chOff x="5267632" y="1606582"/>
                  <a:chExt cx="1180862" cy="767915"/>
                </a:xfrm>
              </p:grpSpPr>
              <p:grpSp>
                <p:nvGrpSpPr>
                  <p:cNvPr id="201" name="Grupo 200">
                    <a:extLst>
                      <a:ext uri="{FF2B5EF4-FFF2-40B4-BE49-F238E27FC236}">
                        <a16:creationId xmlns:a16="http://schemas.microsoft.com/office/drawing/2014/main" id="{8DB19B7C-F711-443E-B827-EEAD4F736D61}"/>
                      </a:ext>
                    </a:extLst>
                  </p:cNvPr>
                  <p:cNvGrpSpPr/>
                  <p:nvPr/>
                </p:nvGrpSpPr>
                <p:grpSpPr>
                  <a:xfrm>
                    <a:off x="5267632" y="1606582"/>
                    <a:ext cx="619560" cy="357114"/>
                    <a:chOff x="5267632" y="1606582"/>
                    <a:chExt cx="619560" cy="357114"/>
                  </a:xfrm>
                </p:grpSpPr>
                <p:sp>
                  <p:nvSpPr>
                    <p:cNvPr id="205" name="Rectángulo 204">
                      <a:extLst>
                        <a:ext uri="{FF2B5EF4-FFF2-40B4-BE49-F238E27FC236}">
                          <a16:creationId xmlns:a16="http://schemas.microsoft.com/office/drawing/2014/main" id="{6353E57C-E3E7-4AD5-9921-9D7F21EE9F5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7632" y="1606582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06" name="Rectángulo 205">
                      <a:extLst>
                        <a:ext uri="{FF2B5EF4-FFF2-40B4-BE49-F238E27FC236}">
                          <a16:creationId xmlns:a16="http://schemas.microsoft.com/office/drawing/2014/main" id="{AEB8ECC0-60A0-40C8-A655-56CC217EB24A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1592" y="1806534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02" name="Grupo 201">
                    <a:extLst>
                      <a:ext uri="{FF2B5EF4-FFF2-40B4-BE49-F238E27FC236}">
                        <a16:creationId xmlns:a16="http://schemas.microsoft.com/office/drawing/2014/main" id="{52345D58-6EE8-4682-AFDA-96090B0D7331}"/>
                      </a:ext>
                    </a:extLst>
                  </p:cNvPr>
                  <p:cNvGrpSpPr/>
                  <p:nvPr/>
                </p:nvGrpSpPr>
                <p:grpSpPr>
                  <a:xfrm>
                    <a:off x="5823688" y="2012998"/>
                    <a:ext cx="624806" cy="361499"/>
                    <a:chOff x="5270609" y="1606423"/>
                    <a:chExt cx="624806" cy="361499"/>
                  </a:xfrm>
                </p:grpSpPr>
                <p:sp>
                  <p:nvSpPr>
                    <p:cNvPr id="203" name="Rectángulo 202">
                      <a:extLst>
                        <a:ext uri="{FF2B5EF4-FFF2-40B4-BE49-F238E27FC236}">
                          <a16:creationId xmlns:a16="http://schemas.microsoft.com/office/drawing/2014/main" id="{57532359-9539-43C0-B46B-0C567EECFD83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70609" y="1606423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04" name="Rectángulo 203">
                      <a:extLst>
                        <a:ext uri="{FF2B5EF4-FFF2-40B4-BE49-F238E27FC236}">
                          <a16:creationId xmlns:a16="http://schemas.microsoft.com/office/drawing/2014/main" id="{32FD10A4-EBA9-4230-922A-6A51A132AD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9815" y="181076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198" name="Flecha: pentágono 197">
                <a:extLst>
                  <a:ext uri="{FF2B5EF4-FFF2-40B4-BE49-F238E27FC236}">
                    <a16:creationId xmlns:a16="http://schemas.microsoft.com/office/drawing/2014/main" id="{25BB3DC4-CAF7-4630-9F16-2558EBE34056}"/>
                  </a:ext>
                </a:extLst>
              </p:cNvPr>
              <p:cNvSpPr/>
              <p:nvPr/>
            </p:nvSpPr>
            <p:spPr>
              <a:xfrm rot="5391296">
                <a:off x="5591649" y="4601372"/>
                <a:ext cx="276225" cy="1704063"/>
              </a:xfrm>
              <a:prstGeom prst="homePlate">
                <a:avLst/>
              </a:prstGeom>
              <a:solidFill>
                <a:srgbClr val="FF3399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ESTANDARIZAR</a:t>
                </a:r>
              </a:p>
            </p:txBody>
          </p:sp>
        </p:grpSp>
        <p:grpSp>
          <p:nvGrpSpPr>
            <p:cNvPr id="225" name="Grupo 224">
              <a:extLst>
                <a:ext uri="{FF2B5EF4-FFF2-40B4-BE49-F238E27FC236}">
                  <a16:creationId xmlns:a16="http://schemas.microsoft.com/office/drawing/2014/main" id="{0B14B755-90AB-41D9-B252-8FF39C0CEB9C}"/>
                </a:ext>
              </a:extLst>
            </p:cNvPr>
            <p:cNvGrpSpPr/>
            <p:nvPr/>
          </p:nvGrpSpPr>
          <p:grpSpPr>
            <a:xfrm>
              <a:off x="4374997" y="3897617"/>
              <a:ext cx="1704063" cy="956866"/>
              <a:chOff x="4874075" y="4748310"/>
              <a:chExt cx="1704063" cy="956866"/>
            </a:xfrm>
          </p:grpSpPr>
          <p:grpSp>
            <p:nvGrpSpPr>
              <p:cNvPr id="226" name="Grupo 225">
                <a:extLst>
                  <a:ext uri="{FF2B5EF4-FFF2-40B4-BE49-F238E27FC236}">
                    <a16:creationId xmlns:a16="http://schemas.microsoft.com/office/drawing/2014/main" id="{19053DF3-BAB3-43EA-A9C8-9C6A27B3067B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28" name="Rectángulo 227">
                  <a:extLst>
                    <a:ext uri="{FF2B5EF4-FFF2-40B4-BE49-F238E27FC236}">
                      <a16:creationId xmlns:a16="http://schemas.microsoft.com/office/drawing/2014/main" id="{9CEA20C7-C6C1-4047-B22F-665D67B1CA8F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29" name="Grupo 228">
                  <a:extLst>
                    <a:ext uri="{FF2B5EF4-FFF2-40B4-BE49-F238E27FC236}">
                      <a16:creationId xmlns:a16="http://schemas.microsoft.com/office/drawing/2014/main" id="{FA50A037-37B1-46DD-8080-3B91D29E8679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30" name="Grupo 229">
                    <a:extLst>
                      <a:ext uri="{FF2B5EF4-FFF2-40B4-BE49-F238E27FC236}">
                        <a16:creationId xmlns:a16="http://schemas.microsoft.com/office/drawing/2014/main" id="{58FDD977-6FD8-4E65-8C4E-23802D8A2E30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34" name="Rectángulo 233">
                      <a:extLst>
                        <a:ext uri="{FF2B5EF4-FFF2-40B4-BE49-F238E27FC236}">
                          <a16:creationId xmlns:a16="http://schemas.microsoft.com/office/drawing/2014/main" id="{AFC746DE-9005-418E-A248-FDD1EBCB02A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35" name="Rectángulo 234">
                      <a:extLst>
                        <a:ext uri="{FF2B5EF4-FFF2-40B4-BE49-F238E27FC236}">
                          <a16:creationId xmlns:a16="http://schemas.microsoft.com/office/drawing/2014/main" id="{A24DFC02-5A54-4E2D-8891-8815C2511D70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31" name="Grupo 230">
                    <a:extLst>
                      <a:ext uri="{FF2B5EF4-FFF2-40B4-BE49-F238E27FC236}">
                        <a16:creationId xmlns:a16="http://schemas.microsoft.com/office/drawing/2014/main" id="{2C79F5A0-AEA4-43D9-8E08-E7888BFFAA6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32" name="Rectángulo 231">
                      <a:extLst>
                        <a:ext uri="{FF2B5EF4-FFF2-40B4-BE49-F238E27FC236}">
                          <a16:creationId xmlns:a16="http://schemas.microsoft.com/office/drawing/2014/main" id="{6AB3EC93-1F41-4F19-9956-867B3F136A1F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33" name="Rectángulo 232">
                      <a:extLst>
                        <a:ext uri="{FF2B5EF4-FFF2-40B4-BE49-F238E27FC236}">
                          <a16:creationId xmlns:a16="http://schemas.microsoft.com/office/drawing/2014/main" id="{940D7B4D-EE07-4C70-A587-54704D18168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27" name="Flecha: pentágono 226">
                <a:extLst>
                  <a:ext uri="{FF2B5EF4-FFF2-40B4-BE49-F238E27FC236}">
                    <a16:creationId xmlns:a16="http://schemas.microsoft.com/office/drawing/2014/main" id="{9C600078-E45D-40DE-AAB9-1FCCC4717A01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LIMPIAR</a:t>
                </a:r>
              </a:p>
            </p:txBody>
          </p:sp>
        </p:grpSp>
        <p:grpSp>
          <p:nvGrpSpPr>
            <p:cNvPr id="236" name="Grupo 235">
              <a:extLst>
                <a:ext uri="{FF2B5EF4-FFF2-40B4-BE49-F238E27FC236}">
                  <a16:creationId xmlns:a16="http://schemas.microsoft.com/office/drawing/2014/main" id="{BEDE5101-43FF-42D4-A510-BE9C3401A7D6}"/>
                </a:ext>
              </a:extLst>
            </p:cNvPr>
            <p:cNvGrpSpPr/>
            <p:nvPr/>
          </p:nvGrpSpPr>
          <p:grpSpPr>
            <a:xfrm rot="17254308">
              <a:off x="5580210" y="3033362"/>
              <a:ext cx="1704063" cy="956866"/>
              <a:chOff x="4874075" y="4748310"/>
              <a:chExt cx="1704063" cy="956866"/>
            </a:xfrm>
          </p:grpSpPr>
          <p:grpSp>
            <p:nvGrpSpPr>
              <p:cNvPr id="237" name="Grupo 236">
                <a:extLst>
                  <a:ext uri="{FF2B5EF4-FFF2-40B4-BE49-F238E27FC236}">
                    <a16:creationId xmlns:a16="http://schemas.microsoft.com/office/drawing/2014/main" id="{95A93B4E-8860-4F3C-80A3-E404FB9AA592}"/>
                  </a:ext>
                </a:extLst>
              </p:cNvPr>
              <p:cNvGrpSpPr/>
              <p:nvPr/>
            </p:nvGrpSpPr>
            <p:grpSpPr>
              <a:xfrm rot="19421976">
                <a:off x="5008559" y="4748310"/>
                <a:ext cx="1439126" cy="956866"/>
                <a:chOff x="5257971" y="1613559"/>
                <a:chExt cx="1439126" cy="956866"/>
              </a:xfrm>
            </p:grpSpPr>
            <p:sp>
              <p:nvSpPr>
                <p:cNvPr id="239" name="Rectángulo 238">
                  <a:extLst>
                    <a:ext uri="{FF2B5EF4-FFF2-40B4-BE49-F238E27FC236}">
                      <a16:creationId xmlns:a16="http://schemas.microsoft.com/office/drawing/2014/main" id="{EE43389E-E627-41EA-8120-E75A8E4FDEB6}"/>
                    </a:ext>
                  </a:extLst>
                </p:cNvPr>
                <p:cNvSpPr/>
                <p:nvPr/>
              </p:nvSpPr>
              <p:spPr>
                <a:xfrm rot="2169494">
                  <a:off x="6351497" y="2413263"/>
                  <a:ext cx="345600" cy="15716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2000" dirty="0"/>
                    <a:t>1</a:t>
                  </a:r>
                </a:p>
              </p:txBody>
            </p:sp>
            <p:grpSp>
              <p:nvGrpSpPr>
                <p:cNvPr id="240" name="Grupo 239">
                  <a:extLst>
                    <a:ext uri="{FF2B5EF4-FFF2-40B4-BE49-F238E27FC236}">
                      <a16:creationId xmlns:a16="http://schemas.microsoft.com/office/drawing/2014/main" id="{4CDEF95E-6B75-421A-87D2-B0A74B522C76}"/>
                    </a:ext>
                  </a:extLst>
                </p:cNvPr>
                <p:cNvGrpSpPr/>
                <p:nvPr/>
              </p:nvGrpSpPr>
              <p:grpSpPr>
                <a:xfrm>
                  <a:off x="5257971" y="1613559"/>
                  <a:ext cx="1180863" cy="767914"/>
                  <a:chOff x="5257971" y="1613559"/>
                  <a:chExt cx="1180863" cy="767914"/>
                </a:xfrm>
              </p:grpSpPr>
              <p:grpSp>
                <p:nvGrpSpPr>
                  <p:cNvPr id="241" name="Grupo 240">
                    <a:extLst>
                      <a:ext uri="{FF2B5EF4-FFF2-40B4-BE49-F238E27FC236}">
                        <a16:creationId xmlns:a16="http://schemas.microsoft.com/office/drawing/2014/main" id="{3C29CC50-EE2C-471A-B24E-430BC9DBB4F7}"/>
                      </a:ext>
                    </a:extLst>
                  </p:cNvPr>
                  <p:cNvGrpSpPr/>
                  <p:nvPr/>
                </p:nvGrpSpPr>
                <p:grpSpPr>
                  <a:xfrm>
                    <a:off x="5257971" y="1613559"/>
                    <a:ext cx="619560" cy="357113"/>
                    <a:chOff x="5257971" y="1613559"/>
                    <a:chExt cx="619560" cy="357113"/>
                  </a:xfrm>
                </p:grpSpPr>
                <p:sp>
                  <p:nvSpPr>
                    <p:cNvPr id="245" name="Rectángulo 244">
                      <a:extLst>
                        <a:ext uri="{FF2B5EF4-FFF2-40B4-BE49-F238E27FC236}">
                          <a16:creationId xmlns:a16="http://schemas.microsoft.com/office/drawing/2014/main" id="{C9B7284E-EF69-4B24-B83B-578934DAD699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57971" y="161355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</a:p>
                  </p:txBody>
                </p:sp>
                <p:sp>
                  <p:nvSpPr>
                    <p:cNvPr id="246" name="Rectángulo 245">
                      <a:extLst>
                        <a:ext uri="{FF2B5EF4-FFF2-40B4-BE49-F238E27FC236}">
                          <a16:creationId xmlns:a16="http://schemas.microsoft.com/office/drawing/2014/main" id="{9B347237-5DA8-441C-A522-051316553AA6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31931" y="1813510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4</a:t>
                      </a:r>
                    </a:p>
                  </p:txBody>
                </p:sp>
              </p:grpSp>
              <p:grpSp>
                <p:nvGrpSpPr>
                  <p:cNvPr id="242" name="Grupo 241">
                    <a:extLst>
                      <a:ext uri="{FF2B5EF4-FFF2-40B4-BE49-F238E27FC236}">
                        <a16:creationId xmlns:a16="http://schemas.microsoft.com/office/drawing/2014/main" id="{9FAEA70A-34E6-491B-90B3-E3B38607699C}"/>
                      </a:ext>
                    </a:extLst>
                  </p:cNvPr>
                  <p:cNvGrpSpPr/>
                  <p:nvPr/>
                </p:nvGrpSpPr>
                <p:grpSpPr>
                  <a:xfrm>
                    <a:off x="5814029" y="2019974"/>
                    <a:ext cx="624805" cy="361499"/>
                    <a:chOff x="5260950" y="1613399"/>
                    <a:chExt cx="624805" cy="361499"/>
                  </a:xfrm>
                </p:grpSpPr>
                <p:sp>
                  <p:nvSpPr>
                    <p:cNvPr id="243" name="Rectángulo 242">
                      <a:extLst>
                        <a:ext uri="{FF2B5EF4-FFF2-40B4-BE49-F238E27FC236}">
                          <a16:creationId xmlns:a16="http://schemas.microsoft.com/office/drawing/2014/main" id="{12FAE8F8-287C-4D1A-81C9-B5198EE92454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260950" y="1613399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3</a:t>
                      </a:r>
                    </a:p>
                  </p:txBody>
                </p:sp>
                <p:sp>
                  <p:nvSpPr>
                    <p:cNvPr id="244" name="Rectángulo 243">
                      <a:extLst>
                        <a:ext uri="{FF2B5EF4-FFF2-40B4-BE49-F238E27FC236}">
                          <a16:creationId xmlns:a16="http://schemas.microsoft.com/office/drawing/2014/main" id="{2D5717BF-DE6A-4D13-857B-6BFF34A28B7E}"/>
                        </a:ext>
                      </a:extLst>
                    </p:cNvPr>
                    <p:cNvSpPr/>
                    <p:nvPr/>
                  </p:nvSpPr>
                  <p:spPr>
                    <a:xfrm rot="2169494">
                      <a:off x="5540155" y="1817736"/>
                      <a:ext cx="345600" cy="15716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ES" sz="2000" dirty="0"/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238" name="Flecha: pentágono 237">
                <a:extLst>
                  <a:ext uri="{FF2B5EF4-FFF2-40B4-BE49-F238E27FC236}">
                    <a16:creationId xmlns:a16="http://schemas.microsoft.com/office/drawing/2014/main" id="{00CEF4B0-908B-4ABE-90A1-C7B2F8A3039D}"/>
                  </a:ext>
                </a:extLst>
              </p:cNvPr>
              <p:cNvSpPr/>
              <p:nvPr/>
            </p:nvSpPr>
            <p:spPr>
              <a:xfrm rot="5391296">
                <a:off x="5587994" y="4612715"/>
                <a:ext cx="276225" cy="1704063"/>
              </a:xfrm>
              <a:prstGeom prst="homePlate">
                <a:avLst/>
              </a:prstGeom>
              <a:solidFill>
                <a:schemeClr val="accent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s-ES" b="1" dirty="0"/>
                  <a:t>ORDENAR</a:t>
                </a:r>
              </a:p>
            </p:txBody>
          </p:sp>
        </p:grpSp>
      </p:grpSp>
      <p:pic>
        <p:nvPicPr>
          <p:cNvPr id="82" name="3 Imagen">
            <a:extLst>
              <a:ext uri="{FF2B5EF4-FFF2-40B4-BE49-F238E27FC236}">
                <a16:creationId xmlns:a16="http://schemas.microsoft.com/office/drawing/2014/main" id="{68131689-7B81-4678-8AFA-5521C14899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85" name="3 Imagen">
            <a:extLst>
              <a:ext uri="{FF2B5EF4-FFF2-40B4-BE49-F238E27FC236}">
                <a16:creationId xmlns:a16="http://schemas.microsoft.com/office/drawing/2014/main" id="{185C176D-A39E-449C-A312-E34C6ADA3E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0" name="3 Imagen">
            <a:extLst>
              <a:ext uri="{FF2B5EF4-FFF2-40B4-BE49-F238E27FC236}">
                <a16:creationId xmlns:a16="http://schemas.microsoft.com/office/drawing/2014/main" id="{98263DD9-893B-4D18-87E7-E3DA484120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5E626A-79D8-426E-9FBE-98C9B027965C}"/>
              </a:ext>
            </a:extLst>
          </p:cNvPr>
          <p:cNvSpPr/>
          <p:nvPr/>
        </p:nvSpPr>
        <p:spPr>
          <a:xfrm>
            <a:off x="92771" y="7073354"/>
            <a:ext cx="90512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383131"/>
                </a:solidFill>
                <a:latin typeface="PTSansRegular"/>
              </a:rPr>
              <a:t>Consiste en </a:t>
            </a:r>
            <a:r>
              <a:rPr lang="es-ES" sz="1600" b="1" dirty="0">
                <a:solidFill>
                  <a:srgbClr val="383131"/>
                </a:solidFill>
                <a:latin typeface="PTSansRegular"/>
              </a:rPr>
              <a:t>limpiar</a:t>
            </a:r>
            <a:r>
              <a:rPr lang="es-ES" sz="1600" dirty="0">
                <a:solidFill>
                  <a:srgbClr val="383131"/>
                </a:solidFill>
                <a:latin typeface="PTSansRegular"/>
              </a:rPr>
              <a:t> para identificar y clasificar los puntos de suciedad para la eliminarlos, en lo posible, desde la causa raíz. Al finalizar, obtendremos el kit de limpieza óptimo. </a:t>
            </a:r>
          </a:p>
          <a:p>
            <a:r>
              <a:rPr lang="es-ES" sz="1600" dirty="0">
                <a:solidFill>
                  <a:srgbClr val="383131"/>
                </a:solidFill>
                <a:latin typeface="PTSansRegular"/>
              </a:rPr>
              <a:t> 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6DA1FB6-4E8C-4FDC-9CCE-69C3A2AC1FB2}"/>
              </a:ext>
            </a:extLst>
          </p:cNvPr>
          <p:cNvGrpSpPr/>
          <p:nvPr/>
        </p:nvGrpSpPr>
        <p:grpSpPr>
          <a:xfrm>
            <a:off x="2850513" y="1886820"/>
            <a:ext cx="4300622" cy="4860000"/>
            <a:chOff x="2982835" y="2114777"/>
            <a:chExt cx="4095316" cy="4627990"/>
          </a:xfrm>
        </p:grpSpPr>
        <p:sp>
          <p:nvSpPr>
            <p:cNvPr id="11" name="Arco de bloque 10">
              <a:extLst>
                <a:ext uri="{FF2B5EF4-FFF2-40B4-BE49-F238E27FC236}">
                  <a16:creationId xmlns:a16="http://schemas.microsoft.com/office/drawing/2014/main" id="{9736D2B1-2307-4361-BC38-A3D4F91833AC}"/>
                </a:ext>
              </a:extLst>
            </p:cNvPr>
            <p:cNvSpPr/>
            <p:nvPr/>
          </p:nvSpPr>
          <p:spPr>
            <a:xfrm>
              <a:off x="2982835" y="2647450"/>
              <a:ext cx="3562643" cy="3562643"/>
            </a:xfrm>
            <a:prstGeom prst="blockArc">
              <a:avLst>
                <a:gd name="adj1" fmla="val 1074524"/>
                <a:gd name="adj2" fmla="val 4277372"/>
                <a:gd name="adj3" fmla="val 4727"/>
              </a:avLst>
            </a:prstGeom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7698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769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Arco de bloque 11">
              <a:extLst>
                <a:ext uri="{FF2B5EF4-FFF2-40B4-BE49-F238E27FC236}">
                  <a16:creationId xmlns:a16="http://schemas.microsoft.com/office/drawing/2014/main" id="{EFA2D11C-E7B5-4D50-AEEC-BB74047E8E86}"/>
                </a:ext>
              </a:extLst>
            </p:cNvPr>
            <p:cNvSpPr/>
            <p:nvPr/>
          </p:nvSpPr>
          <p:spPr>
            <a:xfrm>
              <a:off x="2982835" y="2647450"/>
              <a:ext cx="3562643" cy="3562643"/>
            </a:xfrm>
            <a:prstGeom prst="blockArc">
              <a:avLst>
                <a:gd name="adj1" fmla="val 17336235"/>
                <a:gd name="adj2" fmla="val 20485738"/>
                <a:gd name="adj3" fmla="val 5511"/>
              </a:avLst>
            </a:prstGeom>
            <a:ln cap="rnd"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3">
                <a:shade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BAB86479-2622-4379-9222-6B3753BAFCC3}"/>
                </a:ext>
              </a:extLst>
            </p:cNvPr>
            <p:cNvSpPr/>
            <p:nvPr/>
          </p:nvSpPr>
          <p:spPr>
            <a:xfrm>
              <a:off x="3944154" y="3608770"/>
              <a:ext cx="1640004" cy="1640004"/>
            </a:xfrm>
            <a:custGeom>
              <a:avLst/>
              <a:gdLst>
                <a:gd name="connsiteX0" fmla="*/ 0 w 1640004"/>
                <a:gd name="connsiteY0" fmla="*/ 820002 h 1640004"/>
                <a:gd name="connsiteX1" fmla="*/ 820002 w 1640004"/>
                <a:gd name="connsiteY1" fmla="*/ 0 h 1640004"/>
                <a:gd name="connsiteX2" fmla="*/ 1640004 w 1640004"/>
                <a:gd name="connsiteY2" fmla="*/ 820002 h 1640004"/>
                <a:gd name="connsiteX3" fmla="*/ 820002 w 1640004"/>
                <a:gd name="connsiteY3" fmla="*/ 1640004 h 1640004"/>
                <a:gd name="connsiteX4" fmla="*/ 0 w 1640004"/>
                <a:gd name="connsiteY4" fmla="*/ 820002 h 164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004" h="1640004">
                  <a:moveTo>
                    <a:pt x="0" y="820002"/>
                  </a:moveTo>
                  <a:cubicBezTo>
                    <a:pt x="0" y="367127"/>
                    <a:pt x="367127" y="0"/>
                    <a:pt x="820002" y="0"/>
                  </a:cubicBezTo>
                  <a:cubicBezTo>
                    <a:pt x="1272877" y="0"/>
                    <a:pt x="1640004" y="367127"/>
                    <a:pt x="1640004" y="820002"/>
                  </a:cubicBezTo>
                  <a:cubicBezTo>
                    <a:pt x="1640004" y="1272877"/>
                    <a:pt x="1272877" y="1640004"/>
                    <a:pt x="820002" y="1640004"/>
                  </a:cubicBezTo>
                  <a:cubicBezTo>
                    <a:pt x="367127" y="1640004"/>
                    <a:pt x="0" y="1272877"/>
                    <a:pt x="0" y="820002"/>
                  </a:cubicBezTo>
                  <a:close/>
                </a:path>
              </a:pathLst>
            </a:custGeom>
            <a:solidFill>
              <a:srgbClr val="FFFF00">
                <a:alpha val="80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0653" tIns="270653" rIns="270653" bIns="270653" numCol="1" spcCol="1270" anchor="ctr" anchorCtr="0">
              <a:noAutofit/>
            </a:bodyPr>
            <a:lstStyle/>
            <a:p>
              <a:pPr algn="ctr" defTabSz="106677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400" b="1" dirty="0">
                  <a:solidFill>
                    <a:schemeClr val="tx1"/>
                  </a:solidFill>
                </a:rPr>
                <a:t>LIMPIAR</a:t>
              </a:r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050115CA-F68F-4AAD-A68F-F8EFC7F9F443}"/>
                </a:ext>
              </a:extLst>
            </p:cNvPr>
            <p:cNvSpPr/>
            <p:nvPr/>
          </p:nvSpPr>
          <p:spPr>
            <a:xfrm>
              <a:off x="4190155" y="2114777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rgbClr val="C5CA82">
                <a:alpha val="89804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IDENTIFICAR</a:t>
              </a: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60686884-4830-4F42-9B17-7FB078E82021}"/>
                </a:ext>
              </a:extLst>
            </p:cNvPr>
            <p:cNvSpPr/>
            <p:nvPr/>
          </p:nvSpPr>
          <p:spPr>
            <a:xfrm>
              <a:off x="5930148" y="3854770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rgbClr val="D4E763">
                <a:alpha val="76471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3333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CLASIFICAR</a:t>
              </a:r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57DC8A2-D672-4965-8E99-209DEE714F56}"/>
                </a:ext>
              </a:extLst>
            </p:cNvPr>
            <p:cNvSpPr/>
            <p:nvPr/>
          </p:nvSpPr>
          <p:spPr>
            <a:xfrm>
              <a:off x="4190155" y="5594764"/>
              <a:ext cx="1148003" cy="1148003"/>
            </a:xfrm>
            <a:custGeom>
              <a:avLst/>
              <a:gdLst>
                <a:gd name="connsiteX0" fmla="*/ 0 w 1148003"/>
                <a:gd name="connsiteY0" fmla="*/ 574002 h 1148003"/>
                <a:gd name="connsiteX1" fmla="*/ 574002 w 1148003"/>
                <a:gd name="connsiteY1" fmla="*/ 0 h 1148003"/>
                <a:gd name="connsiteX2" fmla="*/ 1148004 w 1148003"/>
                <a:gd name="connsiteY2" fmla="*/ 574002 h 1148003"/>
                <a:gd name="connsiteX3" fmla="*/ 574002 w 1148003"/>
                <a:gd name="connsiteY3" fmla="*/ 1148004 h 1148003"/>
                <a:gd name="connsiteX4" fmla="*/ 0 w 1148003"/>
                <a:gd name="connsiteY4" fmla="*/ 574002 h 114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8003" h="1148003">
                  <a:moveTo>
                    <a:pt x="0" y="574002"/>
                  </a:moveTo>
                  <a:cubicBezTo>
                    <a:pt x="0" y="256989"/>
                    <a:pt x="256989" y="0"/>
                    <a:pt x="574002" y="0"/>
                  </a:cubicBezTo>
                  <a:cubicBezTo>
                    <a:pt x="891015" y="0"/>
                    <a:pt x="1148004" y="256989"/>
                    <a:pt x="1148004" y="574002"/>
                  </a:cubicBezTo>
                  <a:cubicBezTo>
                    <a:pt x="1148004" y="891015"/>
                    <a:pt x="891015" y="1148004"/>
                    <a:pt x="574002" y="1148004"/>
                  </a:cubicBezTo>
                  <a:cubicBezTo>
                    <a:pt x="256989" y="1148004"/>
                    <a:pt x="0" y="891015"/>
                    <a:pt x="0" y="574002"/>
                  </a:cubicBezTo>
                  <a:close/>
                </a:path>
              </a:pathLst>
            </a:custGeom>
            <a:solidFill>
              <a:srgbClr val="E9F456">
                <a:alpha val="63137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26667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091" tIns="182091" rIns="182091" bIns="182091" numCol="1" spcCol="1270" anchor="ctr" anchorCtr="0">
              <a:noAutofit/>
            </a:bodyPr>
            <a:lstStyle/>
            <a:p>
              <a:pPr algn="ctr" defTabSz="4889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100" b="1" dirty="0">
                  <a:solidFill>
                    <a:schemeClr val="tx1"/>
                  </a:solidFill>
                </a:rPr>
                <a:t>ELIMINAR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035A85DE-9299-476C-A8A7-C587DE478F61}"/>
              </a:ext>
            </a:extLst>
          </p:cNvPr>
          <p:cNvSpPr/>
          <p:nvPr/>
        </p:nvSpPr>
        <p:spPr>
          <a:xfrm>
            <a:off x="1186530" y="3993782"/>
            <a:ext cx="2673495" cy="646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Identifiquemos las fuentes de suciedad.</a:t>
            </a:r>
          </a:p>
        </p:txBody>
      </p:sp>
      <p:pic>
        <p:nvPicPr>
          <p:cNvPr id="18" name="3 Imagen">
            <a:extLst>
              <a:ext uri="{FF2B5EF4-FFF2-40B4-BE49-F238E27FC236}">
                <a16:creationId xmlns:a16="http://schemas.microsoft.com/office/drawing/2014/main" id="{6F7B9D0E-D1CD-4A78-9623-8713839BB4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9" name="3 Imagen">
            <a:extLst>
              <a:ext uri="{FF2B5EF4-FFF2-40B4-BE49-F238E27FC236}">
                <a16:creationId xmlns:a16="http://schemas.microsoft.com/office/drawing/2014/main" id="{9480DEAD-1762-4AC9-97B7-4230DAAE1D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6BC121C-D4FE-4C13-B169-81BAF5A83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19DC9E5F-5C5C-4752-A2BE-50C53754D6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55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41B3274-CD14-4072-9F95-F7B6B11A7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286730B-1E12-432D-8EB9-ADF6ADDD7B22}"/>
              </a:ext>
            </a:extLst>
          </p:cNvPr>
          <p:cNvSpPr/>
          <p:nvPr/>
        </p:nvSpPr>
        <p:spPr>
          <a:xfrm>
            <a:off x="510208" y="4288590"/>
            <a:ext cx="81235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Reduce el riesgo potencial de incidentes/accidentes.</a:t>
            </a:r>
          </a:p>
          <a:p>
            <a:pPr algn="ctr"/>
            <a:r>
              <a:rPr lang="es-ES" sz="2000" b="1" dirty="0"/>
              <a:t>Mejora el confort laboral.</a:t>
            </a:r>
          </a:p>
          <a:p>
            <a:pPr algn="ctr"/>
            <a:r>
              <a:rPr lang="es-ES" sz="2000" b="1" dirty="0"/>
              <a:t>Se incrementa el la vida útil de los equipos y máquinas.</a:t>
            </a:r>
          </a:p>
          <a:p>
            <a:pPr algn="ctr"/>
            <a:r>
              <a:rPr lang="es-ES" sz="2000" b="1" dirty="0"/>
              <a:t>Las averías se pueden identificar más fácilmente.</a:t>
            </a:r>
          </a:p>
          <a:p>
            <a:pPr algn="ctr"/>
            <a:r>
              <a:rPr lang="es-ES" sz="2000" b="1" dirty="0"/>
              <a:t>Aumento significativo de la Productividad</a:t>
            </a:r>
          </a:p>
          <a:p>
            <a:pPr algn="ctr"/>
            <a:r>
              <a:rPr lang="es-ES" sz="2000" b="1" dirty="0"/>
              <a:t>Se reducen los despilfarros de materiales y energía.</a:t>
            </a:r>
          </a:p>
          <a:p>
            <a:pPr algn="ctr"/>
            <a:r>
              <a:rPr lang="es-ES" sz="2000" b="1" dirty="0"/>
              <a:t>La calidad del producto se mejora.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7D89E40-1311-4622-8807-BCD4C249AA07}"/>
              </a:ext>
            </a:extLst>
          </p:cNvPr>
          <p:cNvSpPr/>
          <p:nvPr/>
        </p:nvSpPr>
        <p:spPr>
          <a:xfrm>
            <a:off x="353424" y="3399099"/>
            <a:ext cx="8537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“No es más limpio quien más limpia sino quien menos ensucia”</a:t>
            </a:r>
          </a:p>
        </p:txBody>
      </p:sp>
      <p:pic>
        <p:nvPicPr>
          <p:cNvPr id="19" name="3 Imagen">
            <a:extLst>
              <a:ext uri="{FF2B5EF4-FFF2-40B4-BE49-F238E27FC236}">
                <a16:creationId xmlns:a16="http://schemas.microsoft.com/office/drawing/2014/main" id="{021F1D0D-FB7E-4297-94E5-4A5B2D4DD1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078E6B48-A187-4D5B-98DB-703EA8B68C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98B17179-16ED-44AF-B1A8-54240FE5E4AC}"/>
              </a:ext>
            </a:extLst>
          </p:cNvPr>
          <p:cNvSpPr/>
          <p:nvPr/>
        </p:nvSpPr>
        <p:spPr>
          <a:xfrm>
            <a:off x="3592417" y="1387583"/>
            <a:ext cx="1764000" cy="783503"/>
          </a:xfrm>
          <a:custGeom>
            <a:avLst/>
            <a:gdLst>
              <a:gd name="connsiteX0" fmla="*/ 0 w 1205388"/>
              <a:gd name="connsiteY0" fmla="*/ 130586 h 783502"/>
              <a:gd name="connsiteX1" fmla="*/ 130586 w 1205388"/>
              <a:gd name="connsiteY1" fmla="*/ 0 h 783502"/>
              <a:gd name="connsiteX2" fmla="*/ 1074802 w 1205388"/>
              <a:gd name="connsiteY2" fmla="*/ 0 h 783502"/>
              <a:gd name="connsiteX3" fmla="*/ 1205388 w 1205388"/>
              <a:gd name="connsiteY3" fmla="*/ 130586 h 783502"/>
              <a:gd name="connsiteX4" fmla="*/ 1205388 w 1205388"/>
              <a:gd name="connsiteY4" fmla="*/ 652916 h 783502"/>
              <a:gd name="connsiteX5" fmla="*/ 1074802 w 1205388"/>
              <a:gd name="connsiteY5" fmla="*/ 783502 h 783502"/>
              <a:gd name="connsiteX6" fmla="*/ 130586 w 1205388"/>
              <a:gd name="connsiteY6" fmla="*/ 783502 h 783502"/>
              <a:gd name="connsiteX7" fmla="*/ 0 w 1205388"/>
              <a:gd name="connsiteY7" fmla="*/ 652916 h 783502"/>
              <a:gd name="connsiteX8" fmla="*/ 0 w 1205388"/>
              <a:gd name="connsiteY8" fmla="*/ 130586 h 78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5388" h="783502">
                <a:moveTo>
                  <a:pt x="0" y="130586"/>
                </a:moveTo>
                <a:cubicBezTo>
                  <a:pt x="0" y="58465"/>
                  <a:pt x="58465" y="0"/>
                  <a:pt x="130586" y="0"/>
                </a:cubicBezTo>
                <a:lnTo>
                  <a:pt x="1074802" y="0"/>
                </a:lnTo>
                <a:cubicBezTo>
                  <a:pt x="1146923" y="0"/>
                  <a:pt x="1205388" y="58465"/>
                  <a:pt x="1205388" y="130586"/>
                </a:cubicBezTo>
                <a:lnTo>
                  <a:pt x="1205388" y="652916"/>
                </a:lnTo>
                <a:cubicBezTo>
                  <a:pt x="1205388" y="725037"/>
                  <a:pt x="1146923" y="783502"/>
                  <a:pt x="1074802" y="783502"/>
                </a:cubicBezTo>
                <a:lnTo>
                  <a:pt x="130586" y="783502"/>
                </a:lnTo>
                <a:cubicBezTo>
                  <a:pt x="58465" y="783502"/>
                  <a:pt x="0" y="725037"/>
                  <a:pt x="0" y="652916"/>
                </a:cubicBezTo>
                <a:lnTo>
                  <a:pt x="0" y="130586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587" tIns="91587" rIns="91587" bIns="91587" numCol="1" spcCol="1270" anchor="ctr" anchorCtr="0">
            <a:noAutofit/>
          </a:bodyPr>
          <a:lstStyle/>
          <a:p>
            <a:pPr algn="ctr" defTabSz="62228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800" b="1" dirty="0">
                <a:solidFill>
                  <a:schemeClr val="tx1"/>
                </a:solidFill>
              </a:rPr>
              <a:t>VENTAJAS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886E57-A7CD-4534-8365-10F45757BF07}"/>
              </a:ext>
            </a:extLst>
          </p:cNvPr>
          <p:cNvSpPr/>
          <p:nvPr/>
        </p:nvSpPr>
        <p:spPr>
          <a:xfrm>
            <a:off x="2481170" y="7234476"/>
            <a:ext cx="41816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i="1" dirty="0">
                <a:solidFill>
                  <a:srgbClr val="1C1C1C"/>
                </a:solidFill>
              </a:rPr>
              <a:t>“La limpieza es inspección”</a:t>
            </a:r>
            <a:endParaRPr lang="es-ES" sz="2800" dirty="0"/>
          </a:p>
        </p:txBody>
      </p:sp>
      <p:pic>
        <p:nvPicPr>
          <p:cNvPr id="9" name="3 Imagen">
            <a:extLst>
              <a:ext uri="{FF2B5EF4-FFF2-40B4-BE49-F238E27FC236}">
                <a16:creationId xmlns:a16="http://schemas.microsoft.com/office/drawing/2014/main" id="{A8DB9E6F-DF45-4E70-917A-35DAF91AEF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1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lecha: pentágono 47">
            <a:extLst>
              <a:ext uri="{FF2B5EF4-FFF2-40B4-BE49-F238E27FC236}">
                <a16:creationId xmlns:a16="http://schemas.microsoft.com/office/drawing/2014/main" id="{0BC759E2-FD86-4DE4-A0A3-9FB092F1AC5A}"/>
              </a:ext>
            </a:extLst>
          </p:cNvPr>
          <p:cNvSpPr/>
          <p:nvPr/>
        </p:nvSpPr>
        <p:spPr>
          <a:xfrm rot="16200000">
            <a:off x="1585470" y="64250"/>
            <a:ext cx="441588" cy="2724202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s-ES" b="1" dirty="0"/>
              <a:t>LIMPIAR</a:t>
            </a:r>
          </a:p>
        </p:txBody>
      </p:sp>
      <p:sp>
        <p:nvSpPr>
          <p:cNvPr id="13336" name="Elipse 13335">
            <a:extLst>
              <a:ext uri="{FF2B5EF4-FFF2-40B4-BE49-F238E27FC236}">
                <a16:creationId xmlns:a16="http://schemas.microsoft.com/office/drawing/2014/main" id="{5960E5A8-37A3-4021-97C8-9E6153D7BE08}"/>
              </a:ext>
            </a:extLst>
          </p:cNvPr>
          <p:cNvSpPr/>
          <p:nvPr/>
        </p:nvSpPr>
        <p:spPr>
          <a:xfrm>
            <a:off x="6781265" y="1515192"/>
            <a:ext cx="1394295" cy="13471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335" name="Conector: curvado 13334">
            <a:extLst>
              <a:ext uri="{FF2B5EF4-FFF2-40B4-BE49-F238E27FC236}">
                <a16:creationId xmlns:a16="http://schemas.microsoft.com/office/drawing/2014/main" id="{F8879E0D-7E8C-43F4-83F1-411A59C6EBD8}"/>
              </a:ext>
            </a:extLst>
          </p:cNvPr>
          <p:cNvCxnSpPr>
            <a:cxnSpLocks/>
            <a:stCxn id="13317" idx="6"/>
            <a:endCxn id="119" idx="4"/>
          </p:cNvCxnSpPr>
          <p:nvPr/>
        </p:nvCxnSpPr>
        <p:spPr>
          <a:xfrm flipH="1" flipV="1">
            <a:off x="2934566" y="6155738"/>
            <a:ext cx="349110" cy="943250"/>
          </a:xfrm>
          <a:prstGeom prst="curvedConnector4">
            <a:avLst>
              <a:gd name="adj1" fmla="val -65481"/>
              <a:gd name="adj2" fmla="val 69083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ector: curvado 131">
            <a:extLst>
              <a:ext uri="{FF2B5EF4-FFF2-40B4-BE49-F238E27FC236}">
                <a16:creationId xmlns:a16="http://schemas.microsoft.com/office/drawing/2014/main" id="{8239F9F1-401D-42E6-88C7-04F66BF5E02E}"/>
              </a:ext>
            </a:extLst>
          </p:cNvPr>
          <p:cNvCxnSpPr>
            <a:cxnSpLocks/>
            <a:stCxn id="119" idx="6"/>
            <a:endCxn id="120" idx="4"/>
          </p:cNvCxnSpPr>
          <p:nvPr/>
        </p:nvCxnSpPr>
        <p:spPr>
          <a:xfrm flipH="1" flipV="1">
            <a:off x="2923676" y="4919566"/>
            <a:ext cx="370890" cy="876172"/>
          </a:xfrm>
          <a:prstGeom prst="curvedConnector4">
            <a:avLst>
              <a:gd name="adj1" fmla="val -61636"/>
              <a:gd name="adj2" fmla="val 70544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ector: curvado 134">
            <a:extLst>
              <a:ext uri="{FF2B5EF4-FFF2-40B4-BE49-F238E27FC236}">
                <a16:creationId xmlns:a16="http://schemas.microsoft.com/office/drawing/2014/main" id="{D41879E7-A595-46EF-8061-FB9F73C4D8D7}"/>
              </a:ext>
            </a:extLst>
          </p:cNvPr>
          <p:cNvCxnSpPr>
            <a:cxnSpLocks/>
            <a:stCxn id="120" idx="6"/>
            <a:endCxn id="123" idx="4"/>
          </p:cNvCxnSpPr>
          <p:nvPr/>
        </p:nvCxnSpPr>
        <p:spPr>
          <a:xfrm flipH="1" flipV="1">
            <a:off x="2934908" y="3728890"/>
            <a:ext cx="348769" cy="830676"/>
          </a:xfrm>
          <a:prstGeom prst="curvedConnector4">
            <a:avLst>
              <a:gd name="adj1" fmla="val -65545"/>
              <a:gd name="adj2" fmla="val 71669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Conector: curvado 138">
            <a:extLst>
              <a:ext uri="{FF2B5EF4-FFF2-40B4-BE49-F238E27FC236}">
                <a16:creationId xmlns:a16="http://schemas.microsoft.com/office/drawing/2014/main" id="{0D4CCF03-76A3-4284-B6A6-77B5FCB0E632}"/>
              </a:ext>
            </a:extLst>
          </p:cNvPr>
          <p:cNvCxnSpPr>
            <a:cxnSpLocks/>
            <a:stCxn id="123" idx="6"/>
            <a:endCxn id="125" idx="4"/>
          </p:cNvCxnSpPr>
          <p:nvPr/>
        </p:nvCxnSpPr>
        <p:spPr>
          <a:xfrm flipH="1" flipV="1">
            <a:off x="2893623" y="2519502"/>
            <a:ext cx="401285" cy="849388"/>
          </a:xfrm>
          <a:prstGeom prst="curvedConnector4">
            <a:avLst>
              <a:gd name="adj1" fmla="val -56967"/>
              <a:gd name="adj2" fmla="val 71192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56E53B29-6A0D-4E0B-B4A1-B63D5996AB4F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3253622" y="2153874"/>
            <a:ext cx="861178" cy="5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379DCB5D-E5D8-4680-9E70-FFD1AD925820}"/>
              </a:ext>
            </a:extLst>
          </p:cNvPr>
          <p:cNvGrpSpPr/>
          <p:nvPr/>
        </p:nvGrpSpPr>
        <p:grpSpPr>
          <a:xfrm>
            <a:off x="401129" y="1799502"/>
            <a:ext cx="2893779" cy="5899372"/>
            <a:chOff x="401128" y="728733"/>
            <a:chExt cx="2893779" cy="5899372"/>
          </a:xfrm>
        </p:grpSpPr>
        <p:grpSp>
          <p:nvGrpSpPr>
            <p:cNvPr id="13331" name="Grupo 13330">
              <a:extLst>
                <a:ext uri="{FF2B5EF4-FFF2-40B4-BE49-F238E27FC236}">
                  <a16:creationId xmlns:a16="http://schemas.microsoft.com/office/drawing/2014/main" id="{EEF9AAC3-DE7E-45E8-888F-0AE235A256B0}"/>
                </a:ext>
              </a:extLst>
            </p:cNvPr>
            <p:cNvGrpSpPr/>
            <p:nvPr/>
          </p:nvGrpSpPr>
          <p:grpSpPr>
            <a:xfrm>
              <a:off x="401128" y="728733"/>
              <a:ext cx="2893779" cy="5899372"/>
              <a:chOff x="3632349" y="715085"/>
              <a:chExt cx="2893779" cy="5899372"/>
            </a:xfrm>
          </p:grpSpPr>
          <p:grpSp>
            <p:nvGrpSpPr>
              <p:cNvPr id="13320" name="Grupo 13319">
                <a:extLst>
                  <a:ext uri="{FF2B5EF4-FFF2-40B4-BE49-F238E27FC236}">
                    <a16:creationId xmlns:a16="http://schemas.microsoft.com/office/drawing/2014/main" id="{5047FE74-111C-4F0F-AD4F-5600932881F1}"/>
                  </a:ext>
                </a:extLst>
              </p:cNvPr>
              <p:cNvGrpSpPr/>
              <p:nvPr/>
            </p:nvGrpSpPr>
            <p:grpSpPr>
              <a:xfrm>
                <a:off x="3671693" y="5654571"/>
                <a:ext cx="2843204" cy="959886"/>
                <a:chOff x="3654728" y="5704557"/>
                <a:chExt cx="2843204" cy="959886"/>
              </a:xfrm>
            </p:grpSpPr>
            <p:grpSp>
              <p:nvGrpSpPr>
                <p:cNvPr id="37" name="Grupo 36">
                  <a:extLst>
                    <a:ext uri="{FF2B5EF4-FFF2-40B4-BE49-F238E27FC236}">
                      <a16:creationId xmlns:a16="http://schemas.microsoft.com/office/drawing/2014/main" id="{47C14777-8E24-42CE-A873-2DF1486A4C6E}"/>
                    </a:ext>
                  </a:extLst>
                </p:cNvPr>
                <p:cNvGrpSpPr/>
                <p:nvPr/>
              </p:nvGrpSpPr>
              <p:grpSpPr>
                <a:xfrm>
                  <a:off x="3654728" y="5751289"/>
                  <a:ext cx="2175221" cy="913154"/>
                  <a:chOff x="2152289" y="5805948"/>
                  <a:chExt cx="2175221" cy="913154"/>
                </a:xfrm>
              </p:grpSpPr>
              <p:sp>
                <p:nvSpPr>
                  <p:cNvPr id="22" name="Forma libre: forma 21">
                    <a:extLst>
                      <a:ext uri="{FF2B5EF4-FFF2-40B4-BE49-F238E27FC236}">
                        <a16:creationId xmlns:a16="http://schemas.microsoft.com/office/drawing/2014/main" id="{C7BA343D-535B-4C86-9FC2-85E29BE9FEFD}"/>
                      </a:ext>
                    </a:extLst>
                  </p:cNvPr>
                  <p:cNvSpPr/>
                  <p:nvPr/>
                </p:nvSpPr>
                <p:spPr>
                  <a:xfrm>
                    <a:off x="2597626" y="591112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Centrarse en lo básico</a:t>
                    </a:r>
                    <a:endParaRPr lang="es-ES" sz="1100" b="1" dirty="0"/>
                  </a:p>
                </p:txBody>
              </p:sp>
              <p:sp>
                <p:nvSpPr>
                  <p:cNvPr id="23" name="Forma libre: forma 22">
                    <a:extLst>
                      <a:ext uri="{FF2B5EF4-FFF2-40B4-BE49-F238E27FC236}">
                        <a16:creationId xmlns:a16="http://schemas.microsoft.com/office/drawing/2014/main" id="{72409CAC-B87A-440B-A2D1-E80FFFF01D80}"/>
                      </a:ext>
                    </a:extLst>
                  </p:cNvPr>
                  <p:cNvSpPr/>
                  <p:nvPr/>
                </p:nvSpPr>
                <p:spPr>
                  <a:xfrm>
                    <a:off x="2361648" y="6302917"/>
                    <a:ext cx="1965862" cy="416185"/>
                  </a:xfrm>
                  <a:custGeom>
                    <a:avLst/>
                    <a:gdLst>
                      <a:gd name="connsiteX0" fmla="*/ 0 w 2327022"/>
                      <a:gd name="connsiteY0" fmla="*/ 0 h 278048"/>
                      <a:gd name="connsiteX1" fmla="*/ 2327022 w 2327022"/>
                      <a:gd name="connsiteY1" fmla="*/ 0 h 278048"/>
                      <a:gd name="connsiteX2" fmla="*/ 2327022 w 2327022"/>
                      <a:gd name="connsiteY2" fmla="*/ 278048 h 278048"/>
                      <a:gd name="connsiteX3" fmla="*/ 0 w 2327022"/>
                      <a:gd name="connsiteY3" fmla="*/ 278048 h 278048"/>
                      <a:gd name="connsiteX4" fmla="*/ 0 w 2327022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27022" h="278048">
                        <a:moveTo>
                          <a:pt x="0" y="0"/>
                        </a:moveTo>
                        <a:lnTo>
                          <a:pt x="2327022" y="0"/>
                        </a:lnTo>
                        <a:lnTo>
                          <a:pt x="2327022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15875">
                    <a:noFill/>
                  </a:ln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Establecer criterios para  detectar focos de suciedad.</a:t>
                    </a:r>
                  </a:p>
                </p:txBody>
              </p:sp>
              <p:pic>
                <p:nvPicPr>
                  <p:cNvPr id="13321" name="Gráfico 13320" descr="Cámara">
                    <a:extLst>
                      <a:ext uri="{FF2B5EF4-FFF2-40B4-BE49-F238E27FC236}">
                        <a16:creationId xmlns:a16="http://schemas.microsoft.com/office/drawing/2014/main" id="{9082FF07-A933-4EEC-9192-4BF9DE653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52289" y="5805948"/>
                    <a:ext cx="605429" cy="58494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3317" name="Elipse 13316">
                  <a:extLst>
                    <a:ext uri="{FF2B5EF4-FFF2-40B4-BE49-F238E27FC236}">
                      <a16:creationId xmlns:a16="http://schemas.microsoft.com/office/drawing/2014/main" id="{B899167C-011D-4E56-8A2D-99B8E539362C}"/>
                    </a:ext>
                  </a:extLst>
                </p:cNvPr>
                <p:cNvSpPr/>
                <p:nvPr/>
              </p:nvSpPr>
              <p:spPr>
                <a:xfrm>
                  <a:off x="5777932" y="5704557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1</a:t>
                  </a:r>
                </a:p>
              </p:txBody>
            </p:sp>
          </p:grpSp>
          <p:grpSp>
            <p:nvGrpSpPr>
              <p:cNvPr id="13322" name="Grupo 13321">
                <a:extLst>
                  <a:ext uri="{FF2B5EF4-FFF2-40B4-BE49-F238E27FC236}">
                    <a16:creationId xmlns:a16="http://schemas.microsoft.com/office/drawing/2014/main" id="{703F635C-44BA-4098-AD72-EE5C15054BDB}"/>
                  </a:ext>
                </a:extLst>
              </p:cNvPr>
              <p:cNvGrpSpPr/>
              <p:nvPr/>
            </p:nvGrpSpPr>
            <p:grpSpPr>
              <a:xfrm>
                <a:off x="3655239" y="4351321"/>
                <a:ext cx="2870548" cy="933151"/>
                <a:chOff x="3642630" y="4417939"/>
                <a:chExt cx="2870548" cy="933151"/>
              </a:xfrm>
            </p:grpSpPr>
            <p:grpSp>
              <p:nvGrpSpPr>
                <p:cNvPr id="89" name="Grupo 88">
                  <a:extLst>
                    <a:ext uri="{FF2B5EF4-FFF2-40B4-BE49-F238E27FC236}">
                      <a16:creationId xmlns:a16="http://schemas.microsoft.com/office/drawing/2014/main" id="{271345DC-724F-4FAA-873E-4146607BF385}"/>
                    </a:ext>
                  </a:extLst>
                </p:cNvPr>
                <p:cNvGrpSpPr/>
                <p:nvPr/>
              </p:nvGrpSpPr>
              <p:grpSpPr>
                <a:xfrm>
                  <a:off x="3642630" y="4569847"/>
                  <a:ext cx="2181172" cy="781243"/>
                  <a:chOff x="6485060" y="5166184"/>
                  <a:chExt cx="2181172" cy="781243"/>
                </a:xfrm>
              </p:grpSpPr>
              <p:sp>
                <p:nvSpPr>
                  <p:cNvPr id="13312" name="Forma libre: forma 13311">
                    <a:extLst>
                      <a:ext uri="{FF2B5EF4-FFF2-40B4-BE49-F238E27FC236}">
                        <a16:creationId xmlns:a16="http://schemas.microsoft.com/office/drawing/2014/main" id="{F4D47F74-E46C-44AA-901B-EB4C9CB7E248}"/>
                      </a:ext>
                    </a:extLst>
                  </p:cNvPr>
                  <p:cNvSpPr/>
                  <p:nvPr/>
                </p:nvSpPr>
                <p:spPr>
                  <a:xfrm>
                    <a:off x="6485060" y="5555223"/>
                    <a:ext cx="2181172" cy="392204"/>
                  </a:xfrm>
                  <a:custGeom>
                    <a:avLst/>
                    <a:gdLst>
                      <a:gd name="connsiteX0" fmla="*/ 0 w 663873"/>
                      <a:gd name="connsiteY0" fmla="*/ 0 h 278048"/>
                      <a:gd name="connsiteX1" fmla="*/ 663873 w 663873"/>
                      <a:gd name="connsiteY1" fmla="*/ 0 h 278048"/>
                      <a:gd name="connsiteX2" fmla="*/ 663873 w 663873"/>
                      <a:gd name="connsiteY2" fmla="*/ 278048 h 278048"/>
                      <a:gd name="connsiteX3" fmla="*/ 0 w 663873"/>
                      <a:gd name="connsiteY3" fmla="*/ 278048 h 278048"/>
                      <a:gd name="connsiteX4" fmla="*/ 0 w 66387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3873" h="278048">
                        <a:moveTo>
                          <a:pt x="0" y="0"/>
                        </a:moveTo>
                        <a:lnTo>
                          <a:pt x="663873" y="0"/>
                        </a:lnTo>
                        <a:lnTo>
                          <a:pt x="66387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Hacer fotos generales y detalle del estado actual.</a:t>
                    </a:r>
                  </a:p>
                </p:txBody>
              </p:sp>
              <p:sp>
                <p:nvSpPr>
                  <p:cNvPr id="31" name="Forma libre: forma 30">
                    <a:extLst>
                      <a:ext uri="{FF2B5EF4-FFF2-40B4-BE49-F238E27FC236}">
                        <a16:creationId xmlns:a16="http://schemas.microsoft.com/office/drawing/2014/main" id="{9086448A-468E-44A9-9550-C93DE1D7E45F}"/>
                      </a:ext>
                    </a:extLst>
                  </p:cNvPr>
                  <p:cNvSpPr/>
                  <p:nvPr/>
                </p:nvSpPr>
                <p:spPr>
                  <a:xfrm>
                    <a:off x="6960596" y="5166184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Pruebas gráficas</a:t>
                    </a:r>
                    <a:endParaRPr lang="es-ES" sz="1100" dirty="0"/>
                  </a:p>
                </p:txBody>
              </p:sp>
            </p:grpSp>
            <p:sp>
              <p:nvSpPr>
                <p:cNvPr id="119" name="Elipse 118">
                  <a:extLst>
                    <a:ext uri="{FF2B5EF4-FFF2-40B4-BE49-F238E27FC236}">
                      <a16:creationId xmlns:a16="http://schemas.microsoft.com/office/drawing/2014/main" id="{03D0694C-4773-4D60-8C2B-2A4233DE9918}"/>
                    </a:ext>
                  </a:extLst>
                </p:cNvPr>
                <p:cNvSpPr/>
                <p:nvPr/>
              </p:nvSpPr>
              <p:spPr>
                <a:xfrm>
                  <a:off x="5793178" y="4417939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2</a:t>
                  </a:r>
                </a:p>
              </p:txBody>
            </p:sp>
          </p:grpSp>
          <p:grpSp>
            <p:nvGrpSpPr>
              <p:cNvPr id="13326" name="Grupo 13325">
                <a:extLst>
                  <a:ext uri="{FF2B5EF4-FFF2-40B4-BE49-F238E27FC236}">
                    <a16:creationId xmlns:a16="http://schemas.microsoft.com/office/drawing/2014/main" id="{584EF1E9-B784-4BED-BE18-CFDA10468534}"/>
                  </a:ext>
                </a:extLst>
              </p:cNvPr>
              <p:cNvGrpSpPr/>
              <p:nvPr/>
            </p:nvGrpSpPr>
            <p:grpSpPr>
              <a:xfrm>
                <a:off x="3757347" y="3115149"/>
                <a:ext cx="2757550" cy="979291"/>
                <a:chOff x="3757347" y="3171206"/>
                <a:chExt cx="2757550" cy="979291"/>
              </a:xfrm>
            </p:grpSpPr>
            <p:grpSp>
              <p:nvGrpSpPr>
                <p:cNvPr id="93" name="Grupo 92">
                  <a:extLst>
                    <a:ext uri="{FF2B5EF4-FFF2-40B4-BE49-F238E27FC236}">
                      <a16:creationId xmlns:a16="http://schemas.microsoft.com/office/drawing/2014/main" id="{35A39CA1-6250-464D-9051-A4C005E656B1}"/>
                    </a:ext>
                  </a:extLst>
                </p:cNvPr>
                <p:cNvGrpSpPr/>
                <p:nvPr/>
              </p:nvGrpSpPr>
              <p:grpSpPr>
                <a:xfrm>
                  <a:off x="3757347" y="3318127"/>
                  <a:ext cx="2006464" cy="832370"/>
                  <a:chOff x="6753130" y="3689141"/>
                  <a:chExt cx="2006464" cy="832370"/>
                </a:xfrm>
              </p:grpSpPr>
              <p:sp>
                <p:nvSpPr>
                  <p:cNvPr id="29" name="Forma libre: forma 28">
                    <a:extLst>
                      <a:ext uri="{FF2B5EF4-FFF2-40B4-BE49-F238E27FC236}">
                        <a16:creationId xmlns:a16="http://schemas.microsoft.com/office/drawing/2014/main" id="{E52A507A-984E-4A0E-81C9-15C41BF221CC}"/>
                      </a:ext>
                    </a:extLst>
                  </p:cNvPr>
                  <p:cNvSpPr/>
                  <p:nvPr/>
                </p:nvSpPr>
                <p:spPr>
                  <a:xfrm>
                    <a:off x="6753130" y="4105326"/>
                    <a:ext cx="2006464" cy="416185"/>
                  </a:xfrm>
                  <a:custGeom>
                    <a:avLst/>
                    <a:gdLst>
                      <a:gd name="connsiteX0" fmla="*/ 0 w 921843"/>
                      <a:gd name="connsiteY0" fmla="*/ 0 h 278048"/>
                      <a:gd name="connsiteX1" fmla="*/ 921843 w 921843"/>
                      <a:gd name="connsiteY1" fmla="*/ 0 h 278048"/>
                      <a:gd name="connsiteX2" fmla="*/ 921843 w 921843"/>
                      <a:gd name="connsiteY2" fmla="*/ 278048 h 278048"/>
                      <a:gd name="connsiteX3" fmla="*/ 0 w 921843"/>
                      <a:gd name="connsiteY3" fmla="*/ 278048 h 278048"/>
                      <a:gd name="connsiteX4" fmla="*/ 0 w 921843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21843" h="278048">
                        <a:moveTo>
                          <a:pt x="0" y="0"/>
                        </a:moveTo>
                        <a:lnTo>
                          <a:pt x="921843" y="0"/>
                        </a:lnTo>
                        <a:lnTo>
                          <a:pt x="921843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ctr" anchorCtr="0">
                    <a:noAutofit/>
                  </a:bodyPr>
                  <a:lstStyle/>
                  <a:p>
                    <a:pPr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Registra todo lo que limpias eso te ayudará a eliminarlo.</a:t>
                    </a:r>
                  </a:p>
                </p:txBody>
              </p:sp>
              <p:sp>
                <p:nvSpPr>
                  <p:cNvPr id="28" name="Forma libre: forma 27">
                    <a:extLst>
                      <a:ext uri="{FF2B5EF4-FFF2-40B4-BE49-F238E27FC236}">
                        <a16:creationId xmlns:a16="http://schemas.microsoft.com/office/drawing/2014/main" id="{F6D5C16E-F999-4F6B-9852-9F0019674D39}"/>
                      </a:ext>
                    </a:extLst>
                  </p:cNvPr>
                  <p:cNvSpPr/>
                  <p:nvPr/>
                </p:nvSpPr>
                <p:spPr>
                  <a:xfrm>
                    <a:off x="7119448" y="368914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Hacer visible La suciedad.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0" name="Elipse 119">
                  <a:extLst>
                    <a:ext uri="{FF2B5EF4-FFF2-40B4-BE49-F238E27FC236}">
                      <a16:creationId xmlns:a16="http://schemas.microsoft.com/office/drawing/2014/main" id="{4716A35B-94ED-4DFB-8BA9-258400BA1E1C}"/>
                    </a:ext>
                  </a:extLst>
                </p:cNvPr>
                <p:cNvSpPr/>
                <p:nvPr/>
              </p:nvSpPr>
              <p:spPr>
                <a:xfrm>
                  <a:off x="5794897" y="3171206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3</a:t>
                  </a:r>
                </a:p>
              </p:txBody>
            </p:sp>
          </p:grpSp>
          <p:grpSp>
            <p:nvGrpSpPr>
              <p:cNvPr id="13328" name="Grupo 13327">
                <a:extLst>
                  <a:ext uri="{FF2B5EF4-FFF2-40B4-BE49-F238E27FC236}">
                    <a16:creationId xmlns:a16="http://schemas.microsoft.com/office/drawing/2014/main" id="{EE3909BD-A872-4BAB-BF61-C3CB68772F92}"/>
                  </a:ext>
                </a:extLst>
              </p:cNvPr>
              <p:cNvGrpSpPr/>
              <p:nvPr/>
            </p:nvGrpSpPr>
            <p:grpSpPr>
              <a:xfrm>
                <a:off x="3757347" y="1924473"/>
                <a:ext cx="2768781" cy="1018456"/>
                <a:chOff x="3730749" y="1924473"/>
                <a:chExt cx="2768781" cy="1018456"/>
              </a:xfrm>
            </p:grpSpPr>
            <p:grpSp>
              <p:nvGrpSpPr>
                <p:cNvPr id="91" name="Grupo 90">
                  <a:extLst>
                    <a:ext uri="{FF2B5EF4-FFF2-40B4-BE49-F238E27FC236}">
                      <a16:creationId xmlns:a16="http://schemas.microsoft.com/office/drawing/2014/main" id="{BE564AFE-62D2-45C2-A501-778AC51AC4A6}"/>
                    </a:ext>
                  </a:extLst>
                </p:cNvPr>
                <p:cNvGrpSpPr/>
                <p:nvPr/>
              </p:nvGrpSpPr>
              <p:grpSpPr>
                <a:xfrm>
                  <a:off x="3730749" y="2077478"/>
                  <a:ext cx="2056929" cy="865451"/>
                  <a:chOff x="6600196" y="3920131"/>
                  <a:chExt cx="2056929" cy="865451"/>
                </a:xfrm>
              </p:grpSpPr>
              <p:sp>
                <p:nvSpPr>
                  <p:cNvPr id="13318" name="Forma libre: forma 13317">
                    <a:extLst>
                      <a:ext uri="{FF2B5EF4-FFF2-40B4-BE49-F238E27FC236}">
                        <a16:creationId xmlns:a16="http://schemas.microsoft.com/office/drawing/2014/main" id="{438E0A27-8F9B-434F-9088-FF3B05E6FAAB}"/>
                      </a:ext>
                    </a:extLst>
                  </p:cNvPr>
                  <p:cNvSpPr/>
                  <p:nvPr/>
                </p:nvSpPr>
                <p:spPr>
                  <a:xfrm>
                    <a:off x="6600196" y="4369397"/>
                    <a:ext cx="2056929" cy="416185"/>
                  </a:xfrm>
                  <a:custGeom>
                    <a:avLst/>
                    <a:gdLst>
                      <a:gd name="connsiteX0" fmla="*/ 0 w 520014"/>
                      <a:gd name="connsiteY0" fmla="*/ 0 h 278048"/>
                      <a:gd name="connsiteX1" fmla="*/ 520014 w 520014"/>
                      <a:gd name="connsiteY1" fmla="*/ 0 h 278048"/>
                      <a:gd name="connsiteX2" fmla="*/ 520014 w 520014"/>
                      <a:gd name="connsiteY2" fmla="*/ 278048 h 278048"/>
                      <a:gd name="connsiteX3" fmla="*/ 0 w 520014"/>
                      <a:gd name="connsiteY3" fmla="*/ 278048 h 278048"/>
                      <a:gd name="connsiteX4" fmla="*/ 0 w 520014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0014" h="278048">
                        <a:moveTo>
                          <a:pt x="0" y="0"/>
                        </a:moveTo>
                        <a:lnTo>
                          <a:pt x="520014" y="0"/>
                        </a:lnTo>
                        <a:lnTo>
                          <a:pt x="520014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35560" tIns="12700" rIns="12700" bIns="12700" numCol="1" spcCol="1270" anchor="ctr" anchorCtr="0">
                    <a:noAutofit/>
                  </a:bodyPr>
                  <a:lstStyle/>
                  <a:p>
                    <a:pPr algn="ctr" defTabSz="2222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dirty="0"/>
                      <a:t>Gestiona todo de una manera ordenada. Conoce lo que tienes.</a:t>
                    </a:r>
                  </a:p>
                </p:txBody>
              </p:sp>
              <p:sp>
                <p:nvSpPr>
                  <p:cNvPr id="13315" name="Forma libre: forma 13314">
                    <a:extLst>
                      <a:ext uri="{FF2B5EF4-FFF2-40B4-BE49-F238E27FC236}">
                        <a16:creationId xmlns:a16="http://schemas.microsoft.com/office/drawing/2014/main" id="{9703391F-DDD2-4B1D-AE89-C0658BB08091}"/>
                      </a:ext>
                    </a:extLst>
                  </p:cNvPr>
                  <p:cNvSpPr/>
                  <p:nvPr/>
                </p:nvSpPr>
                <p:spPr>
                  <a:xfrm>
                    <a:off x="6966095" y="3920131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Céntrate en la repetición.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3" name="Elipse 122">
                  <a:extLst>
                    <a:ext uri="{FF2B5EF4-FFF2-40B4-BE49-F238E27FC236}">
                      <a16:creationId xmlns:a16="http://schemas.microsoft.com/office/drawing/2014/main" id="{41D9A071-FEA6-4246-A798-BAA25C0EA51C}"/>
                    </a:ext>
                  </a:extLst>
                </p:cNvPr>
                <p:cNvSpPr/>
                <p:nvPr/>
              </p:nvSpPr>
              <p:spPr>
                <a:xfrm>
                  <a:off x="5779530" y="1924473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4</a:t>
                  </a:r>
                </a:p>
              </p:txBody>
            </p:sp>
          </p:grpSp>
          <p:grpSp>
            <p:nvGrpSpPr>
              <p:cNvPr id="13330" name="Grupo 13329">
                <a:extLst>
                  <a:ext uri="{FF2B5EF4-FFF2-40B4-BE49-F238E27FC236}">
                    <a16:creationId xmlns:a16="http://schemas.microsoft.com/office/drawing/2014/main" id="{74B75AA9-C6D3-4F89-BFF7-813E7C73CA33}"/>
                  </a:ext>
                </a:extLst>
              </p:cNvPr>
              <p:cNvGrpSpPr/>
              <p:nvPr/>
            </p:nvGrpSpPr>
            <p:grpSpPr>
              <a:xfrm>
                <a:off x="3632349" y="715085"/>
                <a:ext cx="2852494" cy="1020192"/>
                <a:chOff x="3605751" y="715085"/>
                <a:chExt cx="2852494" cy="1020192"/>
              </a:xfrm>
            </p:grpSpPr>
            <p:grpSp>
              <p:nvGrpSpPr>
                <p:cNvPr id="95" name="Grupo 94">
                  <a:extLst>
                    <a:ext uri="{FF2B5EF4-FFF2-40B4-BE49-F238E27FC236}">
                      <a16:creationId xmlns:a16="http://schemas.microsoft.com/office/drawing/2014/main" id="{D0367652-BF4F-4EBC-9648-A83038F1B9EB}"/>
                    </a:ext>
                  </a:extLst>
                </p:cNvPr>
                <p:cNvGrpSpPr/>
                <p:nvPr/>
              </p:nvGrpSpPr>
              <p:grpSpPr>
                <a:xfrm>
                  <a:off x="3605751" y="881560"/>
                  <a:ext cx="2225474" cy="853717"/>
                  <a:chOff x="6696032" y="984088"/>
                  <a:chExt cx="2225474" cy="853717"/>
                </a:xfrm>
              </p:grpSpPr>
              <p:sp>
                <p:nvSpPr>
                  <p:cNvPr id="26" name="Forma libre: forma 25">
                    <a:extLst>
                      <a:ext uri="{FF2B5EF4-FFF2-40B4-BE49-F238E27FC236}">
                        <a16:creationId xmlns:a16="http://schemas.microsoft.com/office/drawing/2014/main" id="{1ADC554E-63EC-44E4-900A-F9BFB2A3D5CE}"/>
                      </a:ext>
                    </a:extLst>
                  </p:cNvPr>
                  <p:cNvSpPr/>
                  <p:nvPr/>
                </p:nvSpPr>
                <p:spPr>
                  <a:xfrm>
                    <a:off x="6696032" y="1421620"/>
                    <a:ext cx="2225474" cy="416185"/>
                  </a:xfrm>
                  <a:custGeom>
                    <a:avLst/>
                    <a:gdLst>
                      <a:gd name="connsiteX0" fmla="*/ 0 w 2002486"/>
                      <a:gd name="connsiteY0" fmla="*/ 0 h 278048"/>
                      <a:gd name="connsiteX1" fmla="*/ 2002486 w 2002486"/>
                      <a:gd name="connsiteY1" fmla="*/ 0 h 278048"/>
                      <a:gd name="connsiteX2" fmla="*/ 2002486 w 2002486"/>
                      <a:gd name="connsiteY2" fmla="*/ 278048 h 278048"/>
                      <a:gd name="connsiteX3" fmla="*/ 0 w 2002486"/>
                      <a:gd name="connsiteY3" fmla="*/ 278048 h 278048"/>
                      <a:gd name="connsiteX4" fmla="*/ 0 w 2002486"/>
                      <a:gd name="connsiteY4" fmla="*/ 0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02486" h="278048">
                        <a:moveTo>
                          <a:pt x="0" y="0"/>
                        </a:moveTo>
                        <a:lnTo>
                          <a:pt x="2002486" y="0"/>
                        </a:lnTo>
                        <a:lnTo>
                          <a:pt x="2002486" y="278048"/>
                        </a:lnTo>
                        <a:lnTo>
                          <a:pt x="0" y="2780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56896" tIns="20320" rIns="20320" bIns="20320" numCol="1" spcCol="1270" anchor="t" anchorCtr="0">
                    <a:noAutofit/>
                  </a:bodyPr>
                  <a:lstStyle/>
                  <a:p>
                    <a:pPr marL="0" lvl="1" algn="ctr" defTabSz="355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15000"/>
                      </a:spcAft>
                    </a:pPr>
                    <a:r>
                      <a:rPr lang="es-ES" sz="1100" dirty="0"/>
                      <a:t>Revisamos lo que hemos hecho.</a:t>
                    </a:r>
                  </a:p>
                </p:txBody>
              </p:sp>
              <p:sp>
                <p:nvSpPr>
                  <p:cNvPr id="25" name="Forma libre: forma 24">
                    <a:extLst>
                      <a:ext uri="{FF2B5EF4-FFF2-40B4-BE49-F238E27FC236}">
                        <a16:creationId xmlns:a16="http://schemas.microsoft.com/office/drawing/2014/main" id="{460EE735-9083-457B-BEBA-D4BC4A50B0FC}"/>
                      </a:ext>
                    </a:extLst>
                  </p:cNvPr>
                  <p:cNvSpPr/>
                  <p:nvPr/>
                </p:nvSpPr>
                <p:spPr>
                  <a:xfrm>
                    <a:off x="7153416" y="984088"/>
                    <a:ext cx="1606178" cy="416185"/>
                  </a:xfrm>
                  <a:custGeom>
                    <a:avLst/>
                    <a:gdLst>
                      <a:gd name="connsiteX0" fmla="*/ 0 w 1036768"/>
                      <a:gd name="connsiteY0" fmla="*/ 46342 h 278048"/>
                      <a:gd name="connsiteX1" fmla="*/ 46342 w 1036768"/>
                      <a:gd name="connsiteY1" fmla="*/ 0 h 278048"/>
                      <a:gd name="connsiteX2" fmla="*/ 990426 w 1036768"/>
                      <a:gd name="connsiteY2" fmla="*/ 0 h 278048"/>
                      <a:gd name="connsiteX3" fmla="*/ 1036768 w 1036768"/>
                      <a:gd name="connsiteY3" fmla="*/ 46342 h 278048"/>
                      <a:gd name="connsiteX4" fmla="*/ 1036768 w 1036768"/>
                      <a:gd name="connsiteY4" fmla="*/ 231706 h 278048"/>
                      <a:gd name="connsiteX5" fmla="*/ 990426 w 1036768"/>
                      <a:gd name="connsiteY5" fmla="*/ 278048 h 278048"/>
                      <a:gd name="connsiteX6" fmla="*/ 46342 w 1036768"/>
                      <a:gd name="connsiteY6" fmla="*/ 278048 h 278048"/>
                      <a:gd name="connsiteX7" fmla="*/ 0 w 1036768"/>
                      <a:gd name="connsiteY7" fmla="*/ 231706 h 278048"/>
                      <a:gd name="connsiteX8" fmla="*/ 0 w 1036768"/>
                      <a:gd name="connsiteY8" fmla="*/ 46342 h 278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6768" h="278048">
                        <a:moveTo>
                          <a:pt x="0" y="46342"/>
                        </a:moveTo>
                        <a:cubicBezTo>
                          <a:pt x="0" y="20748"/>
                          <a:pt x="20748" y="0"/>
                          <a:pt x="46342" y="0"/>
                        </a:cubicBezTo>
                        <a:lnTo>
                          <a:pt x="990426" y="0"/>
                        </a:lnTo>
                        <a:cubicBezTo>
                          <a:pt x="1016020" y="0"/>
                          <a:pt x="1036768" y="20748"/>
                          <a:pt x="1036768" y="46342"/>
                        </a:cubicBezTo>
                        <a:lnTo>
                          <a:pt x="1036768" y="231706"/>
                        </a:lnTo>
                        <a:cubicBezTo>
                          <a:pt x="1036768" y="257300"/>
                          <a:pt x="1016020" y="278048"/>
                          <a:pt x="990426" y="278048"/>
                        </a:cubicBezTo>
                        <a:lnTo>
                          <a:pt x="46342" y="278048"/>
                        </a:lnTo>
                        <a:cubicBezTo>
                          <a:pt x="20748" y="278048"/>
                          <a:pt x="0" y="257300"/>
                          <a:pt x="0" y="231706"/>
                        </a:cubicBezTo>
                        <a:lnTo>
                          <a:pt x="0" y="46342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80000"/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l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33022" tIns="40243" rIns="40243" bIns="40243" numCol="1" spcCol="1270" anchor="ctr" anchorCtr="0">
                    <a:noAutofit/>
                  </a:bodyPr>
                  <a:lstStyle/>
                  <a:p>
                    <a:pPr defTabSz="3111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r>
                      <a:rPr lang="es-ES" sz="1100" b="1" i="1" dirty="0"/>
                      <a:t> Mantén y mejora.</a:t>
                    </a:r>
                    <a:endParaRPr lang="es-ES" sz="1100" b="1" dirty="0"/>
                  </a:p>
                </p:txBody>
              </p:sp>
            </p:grpSp>
            <p:sp>
              <p:nvSpPr>
                <p:cNvPr id="125" name="Elipse 124">
                  <a:extLst>
                    <a:ext uri="{FF2B5EF4-FFF2-40B4-BE49-F238E27FC236}">
                      <a16:creationId xmlns:a16="http://schemas.microsoft.com/office/drawing/2014/main" id="{0A112F63-86D2-4ECA-88C1-4A0AE36BA441}"/>
                    </a:ext>
                  </a:extLst>
                </p:cNvPr>
                <p:cNvSpPr/>
                <p:nvPr/>
              </p:nvSpPr>
              <p:spPr>
                <a:xfrm>
                  <a:off x="5738245" y="715085"/>
                  <a:ext cx="720000" cy="7200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4000" b="1" dirty="0"/>
                    <a:t>5</a:t>
                  </a:r>
                </a:p>
              </p:txBody>
            </p:sp>
          </p:grpSp>
        </p:grpSp>
        <p:pic>
          <p:nvPicPr>
            <p:cNvPr id="182" name="Gráfico 181" descr="Preguntas">
              <a:extLst>
                <a:ext uri="{FF2B5EF4-FFF2-40B4-BE49-F238E27FC236}">
                  <a16:creationId xmlns:a16="http://schemas.microsoft.com/office/drawing/2014/main" id="{05208929-7E17-4F1F-A26A-4929A041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2733" y="4437444"/>
              <a:ext cx="559706" cy="540771"/>
            </a:xfrm>
            <a:prstGeom prst="rect">
              <a:avLst/>
            </a:prstGeom>
          </p:spPr>
        </p:pic>
        <p:pic>
          <p:nvPicPr>
            <p:cNvPr id="183" name="Gráfico 182" descr="Lista RTL">
              <a:extLst>
                <a:ext uri="{FF2B5EF4-FFF2-40B4-BE49-F238E27FC236}">
                  <a16:creationId xmlns:a16="http://schemas.microsoft.com/office/drawing/2014/main" id="{59F85B18-1753-43FC-977B-203A6A2F8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018" y="862425"/>
              <a:ext cx="510605" cy="493333"/>
            </a:xfrm>
            <a:prstGeom prst="rect">
              <a:avLst/>
            </a:prstGeom>
          </p:spPr>
        </p:pic>
      </p:grpSp>
      <p:cxnSp>
        <p:nvCxnSpPr>
          <p:cNvPr id="293" name="Conector recto de flecha 292">
            <a:extLst>
              <a:ext uri="{FF2B5EF4-FFF2-40B4-BE49-F238E27FC236}">
                <a16:creationId xmlns:a16="http://schemas.microsoft.com/office/drawing/2014/main" id="{87AF3BE6-1174-47D6-A8D0-273D91AD2F3D}"/>
              </a:ext>
            </a:extLst>
          </p:cNvPr>
          <p:cNvCxnSpPr>
            <a:cxnSpLocks/>
          </p:cNvCxnSpPr>
          <p:nvPr/>
        </p:nvCxnSpPr>
        <p:spPr>
          <a:xfrm flipH="1" flipV="1">
            <a:off x="7972805" y="6290846"/>
            <a:ext cx="3442" cy="30587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CAB3AD7B-EB22-4407-9219-76544863417D}"/>
              </a:ext>
            </a:extLst>
          </p:cNvPr>
          <p:cNvCxnSpPr>
            <a:cxnSpLocks/>
          </p:cNvCxnSpPr>
          <p:nvPr/>
        </p:nvCxnSpPr>
        <p:spPr>
          <a:xfrm flipH="1" flipV="1">
            <a:off x="7965527" y="5217298"/>
            <a:ext cx="7279" cy="2623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Gráfico 161" descr="Signo de pulgar hacia arriba">
            <a:extLst>
              <a:ext uri="{FF2B5EF4-FFF2-40B4-BE49-F238E27FC236}">
                <a16:creationId xmlns:a16="http://schemas.microsoft.com/office/drawing/2014/main" id="{A04BF0C7-B4E1-4E50-9E38-CFE3EFB087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4069" y="1696374"/>
            <a:ext cx="914400" cy="914400"/>
          </a:xfrm>
          <a:prstGeom prst="rect">
            <a:avLst/>
          </a:prstGeom>
        </p:spPr>
      </p:pic>
      <p:cxnSp>
        <p:nvCxnSpPr>
          <p:cNvPr id="365" name="Conector recto de flecha 364">
            <a:extLst>
              <a:ext uri="{FF2B5EF4-FFF2-40B4-BE49-F238E27FC236}">
                <a16:creationId xmlns:a16="http://schemas.microsoft.com/office/drawing/2014/main" id="{B0F7D1DE-F8F5-445F-A965-48BD5AE03ACE}"/>
              </a:ext>
            </a:extLst>
          </p:cNvPr>
          <p:cNvCxnSpPr>
            <a:cxnSpLocks/>
            <a:endCxn id="162" idx="1"/>
          </p:cNvCxnSpPr>
          <p:nvPr/>
        </p:nvCxnSpPr>
        <p:spPr>
          <a:xfrm flipV="1">
            <a:off x="5029201" y="2153574"/>
            <a:ext cx="854869" cy="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DDF9D68-1F84-4B92-BED2-4121DA6FA6A8}"/>
              </a:ext>
            </a:extLst>
          </p:cNvPr>
          <p:cNvGrpSpPr/>
          <p:nvPr/>
        </p:nvGrpSpPr>
        <p:grpSpPr>
          <a:xfrm>
            <a:off x="3586855" y="5284721"/>
            <a:ext cx="4838698" cy="1137162"/>
            <a:chOff x="3586855" y="4296718"/>
            <a:chExt cx="4838698" cy="1137162"/>
          </a:xfrm>
        </p:grpSpPr>
        <p:cxnSp>
          <p:nvCxnSpPr>
            <p:cNvPr id="393" name="Conector recto de flecha 392">
              <a:extLst>
                <a:ext uri="{FF2B5EF4-FFF2-40B4-BE49-F238E27FC236}">
                  <a16:creationId xmlns:a16="http://schemas.microsoft.com/office/drawing/2014/main" id="{8AAD165A-2F57-4D34-B090-0742874722B3}"/>
                </a:ext>
              </a:extLst>
            </p:cNvPr>
            <p:cNvCxnSpPr>
              <a:cxnSpLocks/>
              <a:stCxn id="177" idx="1"/>
            </p:cNvCxnSpPr>
            <p:nvPr/>
          </p:nvCxnSpPr>
          <p:spPr>
            <a:xfrm flipH="1" flipV="1">
              <a:off x="7175558" y="4834178"/>
              <a:ext cx="415987" cy="414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AC6D70C0-5583-410D-987C-DD7F2FBF2F56}"/>
                </a:ext>
              </a:extLst>
            </p:cNvPr>
            <p:cNvGrpSpPr/>
            <p:nvPr/>
          </p:nvGrpSpPr>
          <p:grpSpPr>
            <a:xfrm>
              <a:off x="3586855" y="4296718"/>
              <a:ext cx="4838698" cy="1137162"/>
              <a:chOff x="3586855" y="4296718"/>
              <a:chExt cx="4838698" cy="1137162"/>
            </a:xfrm>
          </p:grpSpPr>
          <p:grpSp>
            <p:nvGrpSpPr>
              <p:cNvPr id="141" name="Grupo 140">
                <a:extLst>
                  <a:ext uri="{FF2B5EF4-FFF2-40B4-BE49-F238E27FC236}">
                    <a16:creationId xmlns:a16="http://schemas.microsoft.com/office/drawing/2014/main" id="{BCCCDC4D-07AD-4FB5-86AD-E15A11BC9780}"/>
                  </a:ext>
                </a:extLst>
              </p:cNvPr>
              <p:cNvGrpSpPr/>
              <p:nvPr/>
            </p:nvGrpSpPr>
            <p:grpSpPr>
              <a:xfrm>
                <a:off x="5854174" y="4296718"/>
                <a:ext cx="1264328" cy="1137162"/>
                <a:chOff x="6717706" y="5463231"/>
                <a:chExt cx="1264328" cy="1137162"/>
              </a:xfrm>
            </p:grpSpPr>
            <p:grpSp>
              <p:nvGrpSpPr>
                <p:cNvPr id="108" name="Grupo 107">
                  <a:extLst>
                    <a:ext uri="{FF2B5EF4-FFF2-40B4-BE49-F238E27FC236}">
                      <a16:creationId xmlns:a16="http://schemas.microsoft.com/office/drawing/2014/main" id="{BD9C95BB-8CA0-4330-B1E2-6B62D61502BA}"/>
                    </a:ext>
                  </a:extLst>
                </p:cNvPr>
                <p:cNvGrpSpPr/>
                <p:nvPr/>
              </p:nvGrpSpPr>
              <p:grpSpPr>
                <a:xfrm>
                  <a:off x="6717706" y="5463231"/>
                  <a:ext cx="1073907" cy="1137162"/>
                  <a:chOff x="4208397" y="2971800"/>
                  <a:chExt cx="820821" cy="914400"/>
                </a:xfrm>
              </p:grpSpPr>
              <p:pic>
                <p:nvPicPr>
                  <p:cNvPr id="106" name="Gráfico 105" descr="Nube">
                    <a:extLst>
                      <a:ext uri="{FF2B5EF4-FFF2-40B4-BE49-F238E27FC236}">
                        <a16:creationId xmlns:a16="http://schemas.microsoft.com/office/drawing/2014/main" id="{D4C26DD1-A08B-435E-B2E7-648375AF71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08397" y="2971800"/>
                    <a:ext cx="820821" cy="914400"/>
                  </a:xfrm>
                  <a:prstGeom prst="rect">
                    <a:avLst/>
                  </a:prstGeom>
                </p:spPr>
              </p:pic>
              <p:sp>
                <p:nvSpPr>
                  <p:cNvPr id="107" name="Flecha: hacia abajo 106">
                    <a:extLst>
                      <a:ext uri="{FF2B5EF4-FFF2-40B4-BE49-F238E27FC236}">
                        <a16:creationId xmlns:a16="http://schemas.microsoft.com/office/drawing/2014/main" id="{833FADE7-C66A-449A-BD29-EF5F89CEAAD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78069" y="3327497"/>
                    <a:ext cx="226307" cy="28066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pic>
              <p:nvPicPr>
                <p:cNvPr id="118" name="Gráfico 117" descr="Imágenes">
                  <a:extLst>
                    <a:ext uri="{FF2B5EF4-FFF2-40B4-BE49-F238E27FC236}">
                      <a16:creationId xmlns:a16="http://schemas.microsoft.com/office/drawing/2014/main" id="{E17EE9D5-9B1B-43D4-9ED4-B3D4A84E7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19650452">
                  <a:off x="7465037" y="5703914"/>
                  <a:ext cx="516997" cy="516997"/>
                </a:xfrm>
                <a:prstGeom prst="rect">
                  <a:avLst/>
                </a:prstGeom>
              </p:spPr>
            </p:pic>
          </p:grpSp>
          <p:grpSp>
            <p:nvGrpSpPr>
              <p:cNvPr id="354" name="Grupo 353">
                <a:extLst>
                  <a:ext uri="{FF2B5EF4-FFF2-40B4-BE49-F238E27FC236}">
                    <a16:creationId xmlns:a16="http://schemas.microsoft.com/office/drawing/2014/main" id="{8D1328E3-3DD3-49C0-B3E6-0B4766524543}"/>
                  </a:ext>
                </a:extLst>
              </p:cNvPr>
              <p:cNvGrpSpPr/>
              <p:nvPr/>
            </p:nvGrpSpPr>
            <p:grpSpPr>
              <a:xfrm>
                <a:off x="7490044" y="4493496"/>
                <a:ext cx="935509" cy="798618"/>
                <a:chOff x="6151955" y="5614406"/>
                <a:chExt cx="935509" cy="798618"/>
              </a:xfrm>
            </p:grpSpPr>
            <p:pic>
              <p:nvPicPr>
                <p:cNvPr id="177" name="Gráfico 176" descr="Cámara">
                  <a:extLst>
                    <a:ext uri="{FF2B5EF4-FFF2-40B4-BE49-F238E27FC236}">
                      <a16:creationId xmlns:a16="http://schemas.microsoft.com/office/drawing/2014/main" id="{0687DDC0-B1BF-448A-85EF-FDD21E4DB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53456" y="5614406"/>
                  <a:ext cx="713793" cy="689646"/>
                </a:xfrm>
                <a:prstGeom prst="rect">
                  <a:avLst/>
                </a:prstGeom>
              </p:spPr>
            </p:pic>
            <p:sp>
              <p:nvSpPr>
                <p:cNvPr id="186" name="CuadroTexto 185">
                  <a:extLst>
                    <a:ext uri="{FF2B5EF4-FFF2-40B4-BE49-F238E27FC236}">
                      <a16:creationId xmlns:a16="http://schemas.microsoft.com/office/drawing/2014/main" id="{3F00B313-6542-45EB-854E-E243ECCD1982}"/>
                    </a:ext>
                  </a:extLst>
                </p:cNvPr>
                <p:cNvSpPr txBox="1"/>
                <p:nvPr/>
              </p:nvSpPr>
              <p:spPr>
                <a:xfrm>
                  <a:off x="6151955" y="6166803"/>
                  <a:ext cx="93550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000" b="1" dirty="0"/>
                    <a:t>HACER FOTOS</a:t>
                  </a:r>
                </a:p>
              </p:txBody>
            </p:sp>
          </p:grpSp>
          <p:sp>
            <p:nvSpPr>
              <p:cNvPr id="187" name="CuadroTexto 186">
                <a:extLst>
                  <a:ext uri="{FF2B5EF4-FFF2-40B4-BE49-F238E27FC236}">
                    <a16:creationId xmlns:a16="http://schemas.microsoft.com/office/drawing/2014/main" id="{83432A64-912E-4218-B3FD-3A9EB3139E98}"/>
                  </a:ext>
                </a:extLst>
              </p:cNvPr>
              <p:cNvSpPr txBox="1"/>
              <p:nvPr/>
            </p:nvSpPr>
            <p:spPr>
              <a:xfrm>
                <a:off x="5991826" y="5080092"/>
                <a:ext cx="9724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SUBIR FOTOS</a:t>
                </a:r>
              </a:p>
            </p:txBody>
          </p:sp>
          <p:cxnSp>
            <p:nvCxnSpPr>
              <p:cNvPr id="396" name="Conector recto de flecha 395">
                <a:extLst>
                  <a:ext uri="{FF2B5EF4-FFF2-40B4-BE49-F238E27FC236}">
                    <a16:creationId xmlns:a16="http://schemas.microsoft.com/office/drawing/2014/main" id="{BA37109B-AF8C-45FD-B23D-538A8A1A0178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3586855" y="4859004"/>
                <a:ext cx="2267318" cy="6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451D2343-4ACF-4839-8428-C0E015FA3DB8}"/>
              </a:ext>
            </a:extLst>
          </p:cNvPr>
          <p:cNvCxnSpPr>
            <a:cxnSpLocks/>
          </p:cNvCxnSpPr>
          <p:nvPr/>
        </p:nvCxnSpPr>
        <p:spPr>
          <a:xfrm flipH="1" flipV="1">
            <a:off x="3570213" y="6834065"/>
            <a:ext cx="4032088" cy="1342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89985D85-5C44-45C2-88BA-41CF7B8F6B44}"/>
              </a:ext>
            </a:extLst>
          </p:cNvPr>
          <p:cNvGrpSpPr/>
          <p:nvPr/>
        </p:nvGrpSpPr>
        <p:grpSpPr>
          <a:xfrm>
            <a:off x="4114800" y="1696674"/>
            <a:ext cx="914400" cy="914400"/>
            <a:chOff x="4114800" y="625905"/>
            <a:chExt cx="914400" cy="914400"/>
          </a:xfrm>
        </p:grpSpPr>
        <p:pic>
          <p:nvPicPr>
            <p:cNvPr id="166" name="Gráfico 165" descr="Lista de comprobación RTL">
              <a:extLst>
                <a:ext uri="{FF2B5EF4-FFF2-40B4-BE49-F238E27FC236}">
                  <a16:creationId xmlns:a16="http://schemas.microsoft.com/office/drawing/2014/main" id="{FAD6928F-687A-4F57-80BD-969CD413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114800" y="625905"/>
              <a:ext cx="914400" cy="914400"/>
            </a:xfrm>
            <a:prstGeom prst="rect">
              <a:avLst/>
            </a:prstGeom>
          </p:spPr>
        </p:pic>
        <p:pic>
          <p:nvPicPr>
            <p:cNvPr id="167" name="Gráfico 166" descr="Cámara">
              <a:extLst>
                <a:ext uri="{FF2B5EF4-FFF2-40B4-BE49-F238E27FC236}">
                  <a16:creationId xmlns:a16="http://schemas.microsoft.com/office/drawing/2014/main" id="{902FDEE6-9C5B-4D5D-BF93-AE32CE74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618053">
              <a:off x="4124399" y="893814"/>
              <a:ext cx="507598" cy="490426"/>
            </a:xfrm>
            <a:prstGeom prst="rect">
              <a:avLst/>
            </a:prstGeom>
          </p:spPr>
        </p:pic>
      </p:grp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447472C9-54C1-45B9-B43B-2D92AD015D62}"/>
              </a:ext>
            </a:extLst>
          </p:cNvPr>
          <p:cNvSpPr txBox="1"/>
          <p:nvPr/>
        </p:nvSpPr>
        <p:spPr>
          <a:xfrm>
            <a:off x="6132448" y="2063889"/>
            <a:ext cx="64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≥ 80</a:t>
            </a:r>
          </a:p>
        </p:txBody>
      </p:sp>
      <p:pic>
        <p:nvPicPr>
          <p:cNvPr id="109" name="Gráfico 108" descr="Cubo y fregona">
            <a:extLst>
              <a:ext uri="{FF2B5EF4-FFF2-40B4-BE49-F238E27FC236}">
                <a16:creationId xmlns:a16="http://schemas.microsoft.com/office/drawing/2014/main" id="{045076E9-932C-4F46-88C2-A5BC6B13AC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4018" y="4275856"/>
            <a:ext cx="522154" cy="52215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D821AC7-5944-4CAB-A40E-38F908B7253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02302" y="6777016"/>
            <a:ext cx="739129" cy="670791"/>
          </a:xfrm>
          <a:prstGeom prst="rect">
            <a:avLst/>
          </a:prstGeom>
        </p:spPr>
      </p:pic>
      <p:pic>
        <p:nvPicPr>
          <p:cNvPr id="128" name="Gráfico 127" descr="Lluvia de ideas de grupo">
            <a:extLst>
              <a:ext uri="{FF2B5EF4-FFF2-40B4-BE49-F238E27FC236}">
                <a16:creationId xmlns:a16="http://schemas.microsoft.com/office/drawing/2014/main" id="{77A8E6A6-01B3-4F61-BC65-472CE817A0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0407" y="3058793"/>
            <a:ext cx="584217" cy="584217"/>
          </a:xfrm>
          <a:prstGeom prst="rect">
            <a:avLst/>
          </a:prstGeom>
        </p:spPr>
      </p:pic>
      <p:grpSp>
        <p:nvGrpSpPr>
          <p:cNvPr id="36" name="Grupo 35">
            <a:extLst>
              <a:ext uri="{FF2B5EF4-FFF2-40B4-BE49-F238E27FC236}">
                <a16:creationId xmlns:a16="http://schemas.microsoft.com/office/drawing/2014/main" id="{628ED973-C5AE-4D98-BFF5-01AA7158C177}"/>
              </a:ext>
            </a:extLst>
          </p:cNvPr>
          <p:cNvGrpSpPr/>
          <p:nvPr/>
        </p:nvGrpSpPr>
        <p:grpSpPr>
          <a:xfrm>
            <a:off x="3605799" y="3032052"/>
            <a:ext cx="4808261" cy="2069759"/>
            <a:chOff x="3616370" y="1840594"/>
            <a:chExt cx="4808261" cy="2069759"/>
          </a:xfrm>
        </p:grpSpPr>
        <p:cxnSp>
          <p:nvCxnSpPr>
            <p:cNvPr id="131" name="Conector recto de flecha 130">
              <a:extLst>
                <a:ext uri="{FF2B5EF4-FFF2-40B4-BE49-F238E27FC236}">
                  <a16:creationId xmlns:a16="http://schemas.microsoft.com/office/drawing/2014/main" id="{3800F5C7-0FF7-453D-A55B-6405A03B5B68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6217565" y="2190937"/>
              <a:ext cx="1384551" cy="3070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Grupo 246">
              <a:extLst>
                <a:ext uri="{FF2B5EF4-FFF2-40B4-BE49-F238E27FC236}">
                  <a16:creationId xmlns:a16="http://schemas.microsoft.com/office/drawing/2014/main" id="{A4CD6BA4-04A2-471C-85D9-991517F52369}"/>
                </a:ext>
              </a:extLst>
            </p:cNvPr>
            <p:cNvGrpSpPr/>
            <p:nvPr/>
          </p:nvGrpSpPr>
          <p:grpSpPr>
            <a:xfrm>
              <a:off x="5976237" y="2979671"/>
              <a:ext cx="972412" cy="930682"/>
              <a:chOff x="7478411" y="3073465"/>
              <a:chExt cx="972412" cy="930682"/>
            </a:xfrm>
          </p:grpSpPr>
          <p:sp>
            <p:nvSpPr>
              <p:cNvPr id="172" name="CuadroTexto 171">
                <a:extLst>
                  <a:ext uri="{FF2B5EF4-FFF2-40B4-BE49-F238E27FC236}">
                    <a16:creationId xmlns:a16="http://schemas.microsoft.com/office/drawing/2014/main" id="{0701C1BD-65FB-44A3-832E-7DAC6899EC57}"/>
                  </a:ext>
                </a:extLst>
              </p:cNvPr>
              <p:cNvSpPr txBox="1"/>
              <p:nvPr/>
            </p:nvSpPr>
            <p:spPr>
              <a:xfrm>
                <a:off x="7478411" y="3757926"/>
                <a:ext cx="9724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LIMPIAR</a:t>
                </a:r>
              </a:p>
            </p:txBody>
          </p:sp>
          <p:grpSp>
            <p:nvGrpSpPr>
              <p:cNvPr id="241" name="Grupo 240">
                <a:extLst>
                  <a:ext uri="{FF2B5EF4-FFF2-40B4-BE49-F238E27FC236}">
                    <a16:creationId xmlns:a16="http://schemas.microsoft.com/office/drawing/2014/main" id="{DB8670E4-94F8-4A4C-9B7A-1D74D67BAFA4}"/>
                  </a:ext>
                </a:extLst>
              </p:cNvPr>
              <p:cNvGrpSpPr/>
              <p:nvPr/>
            </p:nvGrpSpPr>
            <p:grpSpPr>
              <a:xfrm>
                <a:off x="7664139" y="3073465"/>
                <a:ext cx="636234" cy="698590"/>
                <a:chOff x="7664139" y="3073465"/>
                <a:chExt cx="636234" cy="698590"/>
              </a:xfrm>
            </p:grpSpPr>
            <p:sp>
              <p:nvSpPr>
                <p:cNvPr id="233" name="Forma libre: forma 232">
                  <a:extLst>
                    <a:ext uri="{FF2B5EF4-FFF2-40B4-BE49-F238E27FC236}">
                      <a16:creationId xmlns:a16="http://schemas.microsoft.com/office/drawing/2014/main" id="{0ECD73AE-EC61-4F8B-A43B-7B8D23818993}"/>
                    </a:ext>
                  </a:extLst>
                </p:cNvPr>
                <p:cNvSpPr/>
                <p:nvPr/>
              </p:nvSpPr>
              <p:spPr>
                <a:xfrm>
                  <a:off x="7986261" y="3073465"/>
                  <a:ext cx="314112" cy="689064"/>
                </a:xfrm>
                <a:custGeom>
                  <a:avLst/>
                  <a:gdLst>
                    <a:gd name="connsiteX0" fmla="*/ 281818 w 314112"/>
                    <a:gd name="connsiteY0" fmla="*/ 521561 h 689064"/>
                    <a:gd name="connsiteX1" fmla="*/ 311190 w 314112"/>
                    <a:gd name="connsiteY1" fmla="*/ 527119 h 689064"/>
                    <a:gd name="connsiteX2" fmla="*/ 313572 w 314112"/>
                    <a:gd name="connsiteY2" fmla="*/ 514417 h 689064"/>
                    <a:gd name="connsiteX3" fmla="*/ 288169 w 314112"/>
                    <a:gd name="connsiteY3" fmla="*/ 477106 h 689064"/>
                    <a:gd name="connsiteX4" fmla="*/ 242125 w 314112"/>
                    <a:gd name="connsiteY4" fmla="*/ 469167 h 689064"/>
                    <a:gd name="connsiteX5" fmla="*/ 216722 w 314112"/>
                    <a:gd name="connsiteY5" fmla="*/ 431856 h 689064"/>
                    <a:gd name="connsiteX6" fmla="*/ 297695 w 314112"/>
                    <a:gd name="connsiteY6" fmla="*/ 0 h 689064"/>
                    <a:gd name="connsiteX7" fmla="*/ 249270 w 314112"/>
                    <a:gd name="connsiteY7" fmla="*/ 0 h 689064"/>
                    <a:gd name="connsiteX8" fmla="*/ 169885 w 314112"/>
                    <a:gd name="connsiteY8" fmla="*/ 422330 h 689064"/>
                    <a:gd name="connsiteX9" fmla="*/ 132573 w 314112"/>
                    <a:gd name="connsiteY9" fmla="*/ 447733 h 689064"/>
                    <a:gd name="connsiteX10" fmla="*/ 86530 w 314112"/>
                    <a:gd name="connsiteY10" fmla="*/ 439001 h 689064"/>
                    <a:gd name="connsiteX11" fmla="*/ 49219 w 314112"/>
                    <a:gd name="connsiteY11" fmla="*/ 464404 h 689064"/>
                    <a:gd name="connsiteX12" fmla="*/ 46837 w 314112"/>
                    <a:gd name="connsiteY12" fmla="*/ 477106 h 689064"/>
                    <a:gd name="connsiteX13" fmla="*/ 84942 w 314112"/>
                    <a:gd name="connsiteY13" fmla="*/ 484250 h 689064"/>
                    <a:gd name="connsiteX14" fmla="*/ 0 w 314112"/>
                    <a:gd name="connsiteY14" fmla="*/ 689065 h 689064"/>
                    <a:gd name="connsiteX15" fmla="*/ 44456 w 314112"/>
                    <a:gd name="connsiteY15" fmla="*/ 689065 h 689064"/>
                    <a:gd name="connsiteX16" fmla="*/ 88912 w 314112"/>
                    <a:gd name="connsiteY16" fmla="*/ 633495 h 689064"/>
                    <a:gd name="connsiteX17" fmla="*/ 77798 w 314112"/>
                    <a:gd name="connsiteY17" fmla="*/ 689065 h 689064"/>
                    <a:gd name="connsiteX18" fmla="*/ 122253 w 314112"/>
                    <a:gd name="connsiteY18" fmla="*/ 689065 h 689064"/>
                    <a:gd name="connsiteX19" fmla="*/ 177823 w 314112"/>
                    <a:gd name="connsiteY19" fmla="*/ 633495 h 689064"/>
                    <a:gd name="connsiteX20" fmla="*/ 177823 w 314112"/>
                    <a:gd name="connsiteY20" fmla="*/ 689065 h 689064"/>
                    <a:gd name="connsiteX21" fmla="*/ 211165 w 314112"/>
                    <a:gd name="connsiteY21" fmla="*/ 689065 h 689064"/>
                    <a:gd name="connsiteX22" fmla="*/ 248476 w 314112"/>
                    <a:gd name="connsiteY22" fmla="*/ 606504 h 689064"/>
                    <a:gd name="connsiteX23" fmla="*/ 255621 w 314112"/>
                    <a:gd name="connsiteY23" fmla="*/ 689065 h 689064"/>
                    <a:gd name="connsiteX24" fmla="*/ 311190 w 314112"/>
                    <a:gd name="connsiteY24" fmla="*/ 689065 h 689064"/>
                    <a:gd name="connsiteX25" fmla="*/ 281818 w 314112"/>
                    <a:gd name="connsiteY25" fmla="*/ 521561 h 689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314112" h="689064">
                      <a:moveTo>
                        <a:pt x="281818" y="521561"/>
                      </a:moveTo>
                      <a:lnTo>
                        <a:pt x="311190" y="527119"/>
                      </a:lnTo>
                      <a:lnTo>
                        <a:pt x="313572" y="514417"/>
                      </a:lnTo>
                      <a:cubicBezTo>
                        <a:pt x="316747" y="496952"/>
                        <a:pt x="305633" y="480281"/>
                        <a:pt x="288169" y="477106"/>
                      </a:cubicBezTo>
                      <a:lnTo>
                        <a:pt x="242125" y="469167"/>
                      </a:lnTo>
                      <a:lnTo>
                        <a:pt x="216722" y="431856"/>
                      </a:lnTo>
                      <a:lnTo>
                        <a:pt x="297695" y="0"/>
                      </a:lnTo>
                      <a:lnTo>
                        <a:pt x="249270" y="0"/>
                      </a:lnTo>
                      <a:lnTo>
                        <a:pt x="169885" y="422330"/>
                      </a:lnTo>
                      <a:lnTo>
                        <a:pt x="132573" y="447733"/>
                      </a:lnTo>
                      <a:lnTo>
                        <a:pt x="86530" y="439001"/>
                      </a:lnTo>
                      <a:cubicBezTo>
                        <a:pt x="69065" y="435825"/>
                        <a:pt x="52394" y="446939"/>
                        <a:pt x="49219" y="464404"/>
                      </a:cubicBezTo>
                      <a:lnTo>
                        <a:pt x="46837" y="477106"/>
                      </a:lnTo>
                      <a:lnTo>
                        <a:pt x="84942" y="484250"/>
                      </a:lnTo>
                      <a:cubicBezTo>
                        <a:pt x="83355" y="520768"/>
                        <a:pt x="69859" y="598565"/>
                        <a:pt x="0" y="689065"/>
                      </a:cubicBezTo>
                      <a:lnTo>
                        <a:pt x="44456" y="689065"/>
                      </a:lnTo>
                      <a:cubicBezTo>
                        <a:pt x="44456" y="689065"/>
                        <a:pt x="70653" y="638258"/>
                        <a:pt x="88912" y="633495"/>
                      </a:cubicBezTo>
                      <a:cubicBezTo>
                        <a:pt x="105582" y="629526"/>
                        <a:pt x="65096" y="672394"/>
                        <a:pt x="77798" y="689065"/>
                      </a:cubicBezTo>
                      <a:lnTo>
                        <a:pt x="122253" y="689065"/>
                      </a:lnTo>
                      <a:cubicBezTo>
                        <a:pt x="137337" y="689065"/>
                        <a:pt x="161152" y="623969"/>
                        <a:pt x="177823" y="633495"/>
                      </a:cubicBezTo>
                      <a:cubicBezTo>
                        <a:pt x="189731" y="640639"/>
                        <a:pt x="157977" y="684301"/>
                        <a:pt x="177823" y="689065"/>
                      </a:cubicBezTo>
                      <a:lnTo>
                        <a:pt x="211165" y="689065"/>
                      </a:lnTo>
                      <a:cubicBezTo>
                        <a:pt x="237362" y="685095"/>
                        <a:pt x="230217" y="619205"/>
                        <a:pt x="248476" y="606504"/>
                      </a:cubicBezTo>
                      <a:cubicBezTo>
                        <a:pt x="260384" y="597771"/>
                        <a:pt x="255621" y="689065"/>
                        <a:pt x="255621" y="689065"/>
                      </a:cubicBezTo>
                      <a:lnTo>
                        <a:pt x="311190" y="689065"/>
                      </a:lnTo>
                      <a:cubicBezTo>
                        <a:pt x="284199" y="623175"/>
                        <a:pt x="281024" y="555697"/>
                        <a:pt x="281818" y="5215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9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234" name="Forma libre: forma 233">
                  <a:extLst>
                    <a:ext uri="{FF2B5EF4-FFF2-40B4-BE49-F238E27FC236}">
                      <a16:creationId xmlns:a16="http://schemas.microsoft.com/office/drawing/2014/main" id="{023950AE-3442-4558-BF1D-EFFDCB6E1F01}"/>
                    </a:ext>
                  </a:extLst>
                </p:cNvPr>
                <p:cNvSpPr/>
                <p:nvPr/>
              </p:nvSpPr>
              <p:spPr>
                <a:xfrm>
                  <a:off x="7664139" y="3438637"/>
                  <a:ext cx="345938" cy="333418"/>
                </a:xfrm>
                <a:custGeom>
                  <a:avLst/>
                  <a:gdLst>
                    <a:gd name="connsiteX0" fmla="*/ 345144 w 345938"/>
                    <a:gd name="connsiteY0" fmla="*/ 71447 h 333418"/>
                    <a:gd name="connsiteX1" fmla="*/ 345938 w 345938"/>
                    <a:gd name="connsiteY1" fmla="*/ 63508 h 333418"/>
                    <a:gd name="connsiteX2" fmla="*/ 187167 w 345938"/>
                    <a:gd name="connsiteY2" fmla="*/ 0 h 333418"/>
                    <a:gd name="connsiteX3" fmla="*/ 28397 w 345938"/>
                    <a:gd name="connsiteY3" fmla="*/ 63508 h 333418"/>
                    <a:gd name="connsiteX4" fmla="*/ 29191 w 345938"/>
                    <a:gd name="connsiteY4" fmla="*/ 72241 h 333418"/>
                    <a:gd name="connsiteX5" fmla="*/ 34748 w 345938"/>
                    <a:gd name="connsiteY5" fmla="*/ 97644 h 333418"/>
                    <a:gd name="connsiteX6" fmla="*/ 29985 w 345938"/>
                    <a:gd name="connsiteY6" fmla="*/ 75416 h 333418"/>
                    <a:gd name="connsiteX7" fmla="*/ 21252 w 345938"/>
                    <a:gd name="connsiteY7" fmla="*/ 230217 h 333418"/>
                    <a:gd name="connsiteX8" fmla="*/ 68883 w 345938"/>
                    <a:gd name="connsiteY8" fmla="*/ 253239 h 333418"/>
                    <a:gd name="connsiteX9" fmla="*/ 83967 w 345938"/>
                    <a:gd name="connsiteY9" fmla="*/ 254033 h 333418"/>
                    <a:gd name="connsiteX10" fmla="*/ 83967 w 345938"/>
                    <a:gd name="connsiteY10" fmla="*/ 254033 h 333418"/>
                    <a:gd name="connsiteX11" fmla="*/ 259408 w 345938"/>
                    <a:gd name="connsiteY11" fmla="*/ 169091 h 333418"/>
                    <a:gd name="connsiteX12" fmla="*/ 264171 w 345938"/>
                    <a:gd name="connsiteY12" fmla="*/ 164328 h 333418"/>
                    <a:gd name="connsiteX13" fmla="*/ 264171 w 345938"/>
                    <a:gd name="connsiteY13" fmla="*/ 164328 h 333418"/>
                    <a:gd name="connsiteX14" fmla="*/ 264171 w 345938"/>
                    <a:gd name="connsiteY14" fmla="*/ 164328 h 333418"/>
                    <a:gd name="connsiteX15" fmla="*/ 276079 w 345938"/>
                    <a:gd name="connsiteY15" fmla="*/ 152420 h 333418"/>
                    <a:gd name="connsiteX16" fmla="*/ 279254 w 345938"/>
                    <a:gd name="connsiteY16" fmla="*/ 153214 h 333418"/>
                    <a:gd name="connsiteX17" fmla="*/ 295132 w 345938"/>
                    <a:gd name="connsiteY17" fmla="*/ 137337 h 333418"/>
                    <a:gd name="connsiteX18" fmla="*/ 279254 w 345938"/>
                    <a:gd name="connsiteY18" fmla="*/ 121460 h 333418"/>
                    <a:gd name="connsiteX19" fmla="*/ 263377 w 345938"/>
                    <a:gd name="connsiteY19" fmla="*/ 137337 h 333418"/>
                    <a:gd name="connsiteX20" fmla="*/ 264171 w 345938"/>
                    <a:gd name="connsiteY20" fmla="*/ 142100 h 333418"/>
                    <a:gd name="connsiteX21" fmla="*/ 252263 w 345938"/>
                    <a:gd name="connsiteY21" fmla="*/ 154008 h 333418"/>
                    <a:gd name="connsiteX22" fmla="*/ 247500 w 345938"/>
                    <a:gd name="connsiteY22" fmla="*/ 137337 h 333418"/>
                    <a:gd name="connsiteX23" fmla="*/ 279254 w 345938"/>
                    <a:gd name="connsiteY23" fmla="*/ 105582 h 333418"/>
                    <a:gd name="connsiteX24" fmla="*/ 311009 w 345938"/>
                    <a:gd name="connsiteY24" fmla="*/ 137337 h 333418"/>
                    <a:gd name="connsiteX25" fmla="*/ 282430 w 345938"/>
                    <a:gd name="connsiteY25" fmla="*/ 169091 h 333418"/>
                    <a:gd name="connsiteX26" fmla="*/ 269728 w 345938"/>
                    <a:gd name="connsiteY26" fmla="*/ 181792 h 333418"/>
                    <a:gd name="connsiteX27" fmla="*/ 84760 w 345938"/>
                    <a:gd name="connsiteY27" fmla="*/ 269910 h 333418"/>
                    <a:gd name="connsiteX28" fmla="*/ 72853 w 345938"/>
                    <a:gd name="connsiteY28" fmla="*/ 269116 h 333418"/>
                    <a:gd name="connsiteX29" fmla="*/ 76822 w 345938"/>
                    <a:gd name="connsiteY29" fmla="*/ 288169 h 333418"/>
                    <a:gd name="connsiteX30" fmla="*/ 76822 w 345938"/>
                    <a:gd name="connsiteY30" fmla="*/ 288169 h 333418"/>
                    <a:gd name="connsiteX31" fmla="*/ 187961 w 345938"/>
                    <a:gd name="connsiteY31" fmla="*/ 333418 h 333418"/>
                    <a:gd name="connsiteX32" fmla="*/ 299101 w 345938"/>
                    <a:gd name="connsiteY32" fmla="*/ 288169 h 333418"/>
                    <a:gd name="connsiteX33" fmla="*/ 299101 w 345938"/>
                    <a:gd name="connsiteY33" fmla="*/ 288169 h 333418"/>
                    <a:gd name="connsiteX34" fmla="*/ 345144 w 345938"/>
                    <a:gd name="connsiteY34" fmla="*/ 71447 h 333418"/>
                    <a:gd name="connsiteX35" fmla="*/ 345144 w 345938"/>
                    <a:gd name="connsiteY35" fmla="*/ 71447 h 333418"/>
                    <a:gd name="connsiteX36" fmla="*/ 32366 w 345938"/>
                    <a:gd name="connsiteY36" fmla="*/ 219103 h 333418"/>
                    <a:gd name="connsiteX37" fmla="*/ 35542 w 345938"/>
                    <a:gd name="connsiteY37" fmla="*/ 99232 h 333418"/>
                    <a:gd name="connsiteX38" fmla="*/ 64914 w 345938"/>
                    <a:gd name="connsiteY38" fmla="*/ 236568 h 333418"/>
                    <a:gd name="connsiteX39" fmla="*/ 32366 w 345938"/>
                    <a:gd name="connsiteY39" fmla="*/ 219103 h 333418"/>
                    <a:gd name="connsiteX40" fmla="*/ 187961 w 345938"/>
                    <a:gd name="connsiteY40" fmla="*/ 95262 h 333418"/>
                    <a:gd name="connsiteX41" fmla="*/ 60945 w 345938"/>
                    <a:gd name="connsiteY41" fmla="*/ 63508 h 333418"/>
                    <a:gd name="connsiteX42" fmla="*/ 187961 w 345938"/>
                    <a:gd name="connsiteY42" fmla="*/ 31754 h 333418"/>
                    <a:gd name="connsiteX43" fmla="*/ 314978 w 345938"/>
                    <a:gd name="connsiteY43" fmla="*/ 63508 h 333418"/>
                    <a:gd name="connsiteX44" fmla="*/ 187961 w 345938"/>
                    <a:gd name="connsiteY44" fmla="*/ 95262 h 333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</a:cxnLst>
                  <a:rect l="l" t="t" r="r" b="b"/>
                  <a:pathLst>
                    <a:path w="345938" h="333418">
                      <a:moveTo>
                        <a:pt x="345144" y="71447"/>
                      </a:moveTo>
                      <a:cubicBezTo>
                        <a:pt x="345144" y="71447"/>
                        <a:pt x="345938" y="65890"/>
                        <a:pt x="345938" y="63508"/>
                      </a:cubicBezTo>
                      <a:cubicBezTo>
                        <a:pt x="345938" y="19846"/>
                        <a:pt x="263377" y="0"/>
                        <a:pt x="187167" y="0"/>
                      </a:cubicBezTo>
                      <a:cubicBezTo>
                        <a:pt x="110958" y="0"/>
                        <a:pt x="28397" y="19846"/>
                        <a:pt x="28397" y="63508"/>
                      </a:cubicBezTo>
                      <a:cubicBezTo>
                        <a:pt x="28397" y="65890"/>
                        <a:pt x="29191" y="71447"/>
                        <a:pt x="29191" y="72241"/>
                      </a:cubicBezTo>
                      <a:lnTo>
                        <a:pt x="34748" y="97644"/>
                      </a:lnTo>
                      <a:lnTo>
                        <a:pt x="29985" y="75416"/>
                      </a:lnTo>
                      <a:cubicBezTo>
                        <a:pt x="-4945" y="136543"/>
                        <a:pt x="-11296" y="196082"/>
                        <a:pt x="21252" y="230217"/>
                      </a:cubicBezTo>
                      <a:cubicBezTo>
                        <a:pt x="33160" y="242919"/>
                        <a:pt x="49831" y="250064"/>
                        <a:pt x="68883" y="253239"/>
                      </a:cubicBezTo>
                      <a:cubicBezTo>
                        <a:pt x="73646" y="254033"/>
                        <a:pt x="79203" y="254033"/>
                        <a:pt x="83967" y="254033"/>
                      </a:cubicBezTo>
                      <a:lnTo>
                        <a:pt x="83967" y="254033"/>
                      </a:lnTo>
                      <a:cubicBezTo>
                        <a:pt x="136361" y="254033"/>
                        <a:pt x="203838" y="221485"/>
                        <a:pt x="259408" y="169091"/>
                      </a:cubicBezTo>
                      <a:cubicBezTo>
                        <a:pt x="260996" y="167503"/>
                        <a:pt x="262584" y="165915"/>
                        <a:pt x="264171" y="164328"/>
                      </a:cubicBezTo>
                      <a:cubicBezTo>
                        <a:pt x="264171" y="164328"/>
                        <a:pt x="264171" y="164328"/>
                        <a:pt x="264171" y="164328"/>
                      </a:cubicBezTo>
                      <a:lnTo>
                        <a:pt x="264171" y="164328"/>
                      </a:lnTo>
                      <a:cubicBezTo>
                        <a:pt x="268141" y="160358"/>
                        <a:pt x="272110" y="156389"/>
                        <a:pt x="276079" y="152420"/>
                      </a:cubicBezTo>
                      <a:cubicBezTo>
                        <a:pt x="276873" y="152420"/>
                        <a:pt x="278461" y="153214"/>
                        <a:pt x="279254" y="153214"/>
                      </a:cubicBezTo>
                      <a:cubicBezTo>
                        <a:pt x="287987" y="153214"/>
                        <a:pt x="295132" y="146069"/>
                        <a:pt x="295132" y="137337"/>
                      </a:cubicBezTo>
                      <a:cubicBezTo>
                        <a:pt x="295132" y="128604"/>
                        <a:pt x="287987" y="121460"/>
                        <a:pt x="279254" y="121460"/>
                      </a:cubicBezTo>
                      <a:cubicBezTo>
                        <a:pt x="270522" y="121460"/>
                        <a:pt x="263377" y="128604"/>
                        <a:pt x="263377" y="137337"/>
                      </a:cubicBezTo>
                      <a:cubicBezTo>
                        <a:pt x="263377" y="138924"/>
                        <a:pt x="263377" y="140512"/>
                        <a:pt x="264171" y="142100"/>
                      </a:cubicBezTo>
                      <a:cubicBezTo>
                        <a:pt x="260202" y="146069"/>
                        <a:pt x="256233" y="150038"/>
                        <a:pt x="252263" y="154008"/>
                      </a:cubicBezTo>
                      <a:cubicBezTo>
                        <a:pt x="249088" y="149244"/>
                        <a:pt x="247500" y="143687"/>
                        <a:pt x="247500" y="137337"/>
                      </a:cubicBezTo>
                      <a:cubicBezTo>
                        <a:pt x="247500" y="119872"/>
                        <a:pt x="261790" y="105582"/>
                        <a:pt x="279254" y="105582"/>
                      </a:cubicBezTo>
                      <a:cubicBezTo>
                        <a:pt x="296719" y="105582"/>
                        <a:pt x="311009" y="119872"/>
                        <a:pt x="311009" y="137337"/>
                      </a:cubicBezTo>
                      <a:cubicBezTo>
                        <a:pt x="311009" y="154008"/>
                        <a:pt x="298307" y="167503"/>
                        <a:pt x="282430" y="169091"/>
                      </a:cubicBezTo>
                      <a:cubicBezTo>
                        <a:pt x="277667" y="173854"/>
                        <a:pt x="273698" y="178617"/>
                        <a:pt x="269728" y="181792"/>
                      </a:cubicBezTo>
                      <a:cubicBezTo>
                        <a:pt x="212571" y="235774"/>
                        <a:pt x="141124" y="269910"/>
                        <a:pt x="84760" y="269910"/>
                      </a:cubicBezTo>
                      <a:cubicBezTo>
                        <a:pt x="80791" y="269910"/>
                        <a:pt x="76822" y="269910"/>
                        <a:pt x="72853" y="269116"/>
                      </a:cubicBezTo>
                      <a:lnTo>
                        <a:pt x="76822" y="288169"/>
                      </a:lnTo>
                      <a:lnTo>
                        <a:pt x="76822" y="288169"/>
                      </a:lnTo>
                      <a:cubicBezTo>
                        <a:pt x="79997" y="313572"/>
                        <a:pt x="128422" y="333418"/>
                        <a:pt x="187961" y="333418"/>
                      </a:cubicBezTo>
                      <a:cubicBezTo>
                        <a:pt x="247500" y="333418"/>
                        <a:pt x="295925" y="313572"/>
                        <a:pt x="299101" y="288169"/>
                      </a:cubicBezTo>
                      <a:lnTo>
                        <a:pt x="299101" y="288169"/>
                      </a:lnTo>
                      <a:lnTo>
                        <a:pt x="345144" y="71447"/>
                      </a:lnTo>
                      <a:cubicBezTo>
                        <a:pt x="345144" y="71447"/>
                        <a:pt x="345144" y="71447"/>
                        <a:pt x="345144" y="71447"/>
                      </a:cubicBezTo>
                      <a:close/>
                      <a:moveTo>
                        <a:pt x="32366" y="219103"/>
                      </a:moveTo>
                      <a:cubicBezTo>
                        <a:pt x="8551" y="193700"/>
                        <a:pt x="10932" y="147657"/>
                        <a:pt x="35542" y="99232"/>
                      </a:cubicBezTo>
                      <a:lnTo>
                        <a:pt x="64914" y="236568"/>
                      </a:lnTo>
                      <a:cubicBezTo>
                        <a:pt x="52212" y="233393"/>
                        <a:pt x="41099" y="227836"/>
                        <a:pt x="32366" y="219103"/>
                      </a:cubicBezTo>
                      <a:close/>
                      <a:moveTo>
                        <a:pt x="187961" y="95262"/>
                      </a:moveTo>
                      <a:cubicBezTo>
                        <a:pt x="104607" y="95262"/>
                        <a:pt x="60945" y="71447"/>
                        <a:pt x="60945" y="63508"/>
                      </a:cubicBezTo>
                      <a:cubicBezTo>
                        <a:pt x="60945" y="55570"/>
                        <a:pt x="104607" y="31754"/>
                        <a:pt x="187961" y="31754"/>
                      </a:cubicBezTo>
                      <a:cubicBezTo>
                        <a:pt x="271316" y="31754"/>
                        <a:pt x="314978" y="55570"/>
                        <a:pt x="314978" y="63508"/>
                      </a:cubicBezTo>
                      <a:cubicBezTo>
                        <a:pt x="314978" y="71447"/>
                        <a:pt x="271316" y="95262"/>
                        <a:pt x="187961" y="952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9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</p:grpSp>
        </p:grpSp>
        <p:cxnSp>
          <p:nvCxnSpPr>
            <p:cNvPr id="129" name="Conector recto de flecha 128">
              <a:extLst>
                <a:ext uri="{FF2B5EF4-FFF2-40B4-BE49-F238E27FC236}">
                  <a16:creationId xmlns:a16="http://schemas.microsoft.com/office/drawing/2014/main" id="{703E81C0-3D4D-4D83-A6AC-7FB1B3621B91}"/>
                </a:ext>
              </a:extLst>
            </p:cNvPr>
            <p:cNvCxnSpPr>
              <a:cxnSpLocks/>
              <a:stCxn id="174" idx="1"/>
            </p:cNvCxnSpPr>
            <p:nvPr/>
          </p:nvCxnSpPr>
          <p:spPr>
            <a:xfrm flipH="1">
              <a:off x="3616370" y="3352938"/>
              <a:ext cx="787230" cy="1517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" name="Grupo 247">
              <a:extLst>
                <a:ext uri="{FF2B5EF4-FFF2-40B4-BE49-F238E27FC236}">
                  <a16:creationId xmlns:a16="http://schemas.microsoft.com/office/drawing/2014/main" id="{135518B6-E3E2-4E35-BC06-7BCC1FD41A1B}"/>
                </a:ext>
              </a:extLst>
            </p:cNvPr>
            <p:cNvGrpSpPr/>
            <p:nvPr/>
          </p:nvGrpSpPr>
          <p:grpSpPr>
            <a:xfrm>
              <a:off x="7452219" y="1840594"/>
              <a:ext cx="972412" cy="1016557"/>
              <a:chOff x="5944726" y="1908986"/>
              <a:chExt cx="972412" cy="1016557"/>
            </a:xfrm>
          </p:grpSpPr>
          <p:pic>
            <p:nvPicPr>
              <p:cNvPr id="11" name="Gráfico 10" descr="Portapapeles">
                <a:extLst>
                  <a:ext uri="{FF2B5EF4-FFF2-40B4-BE49-F238E27FC236}">
                    <a16:creationId xmlns:a16="http://schemas.microsoft.com/office/drawing/2014/main" id="{2524D0E0-2C53-45C6-88AE-4EF8C974C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6094623" y="1908986"/>
                <a:ext cx="700686" cy="700686"/>
              </a:xfrm>
              <a:prstGeom prst="rect">
                <a:avLst/>
              </a:prstGeom>
            </p:spPr>
          </p:pic>
          <p:sp>
            <p:nvSpPr>
              <p:cNvPr id="138" name="CuadroTexto 137">
                <a:extLst>
                  <a:ext uri="{FF2B5EF4-FFF2-40B4-BE49-F238E27FC236}">
                    <a16:creationId xmlns:a16="http://schemas.microsoft.com/office/drawing/2014/main" id="{9C3755BF-FD42-41BE-B78D-9418C9BB2570}"/>
                  </a:ext>
                </a:extLst>
              </p:cNvPr>
              <p:cNvSpPr txBox="1"/>
              <p:nvPr/>
            </p:nvSpPr>
            <p:spPr>
              <a:xfrm>
                <a:off x="5944726" y="2525433"/>
                <a:ext cx="9724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REGISTRAR EVIDENCIAS</a:t>
                </a:r>
              </a:p>
            </p:txBody>
          </p:sp>
        </p:grp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4032482D-C3D9-44CC-80ED-77BC3C98D89D}"/>
              </a:ext>
            </a:extLst>
          </p:cNvPr>
          <p:cNvCxnSpPr>
            <a:cxnSpLocks/>
          </p:cNvCxnSpPr>
          <p:nvPr/>
        </p:nvCxnSpPr>
        <p:spPr>
          <a:xfrm flipH="1">
            <a:off x="5440777" y="4584425"/>
            <a:ext cx="5392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81BBAC38-C854-4D8C-8C1F-348200164A3A}"/>
              </a:ext>
            </a:extLst>
          </p:cNvPr>
          <p:cNvGrpSpPr/>
          <p:nvPr/>
        </p:nvGrpSpPr>
        <p:grpSpPr>
          <a:xfrm>
            <a:off x="3570214" y="1368560"/>
            <a:ext cx="8757477" cy="3808750"/>
            <a:chOff x="3468145" y="243779"/>
            <a:chExt cx="8757477" cy="3808750"/>
          </a:xfrm>
        </p:grpSpPr>
        <p:cxnSp>
          <p:nvCxnSpPr>
            <p:cNvPr id="159" name="Conector recto de flecha 158">
              <a:extLst>
                <a:ext uri="{FF2B5EF4-FFF2-40B4-BE49-F238E27FC236}">
                  <a16:creationId xmlns:a16="http://schemas.microsoft.com/office/drawing/2014/main" id="{067FDE70-58FE-43DC-9C64-E033DAB50B64}"/>
                </a:ext>
              </a:extLst>
            </p:cNvPr>
            <p:cNvCxnSpPr>
              <a:cxnSpLocks/>
              <a:stCxn id="161" idx="1"/>
            </p:cNvCxnSpPr>
            <p:nvPr/>
          </p:nvCxnSpPr>
          <p:spPr>
            <a:xfrm flipH="1">
              <a:off x="3468145" y="2288323"/>
              <a:ext cx="1617169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de flecha 159">
              <a:extLst>
                <a:ext uri="{FF2B5EF4-FFF2-40B4-BE49-F238E27FC236}">
                  <a16:creationId xmlns:a16="http://schemas.microsoft.com/office/drawing/2014/main" id="{ACF290BA-E3F7-4E1B-A236-62C67CEF1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3950" y="243779"/>
              <a:ext cx="1721672" cy="49516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E78155EE-FFFD-40F6-8625-1807DE1C0D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l="26725" t="26380" r="12452" b="36132"/>
            <a:stretch/>
          </p:blipFill>
          <p:spPr>
            <a:xfrm>
              <a:off x="5085314" y="2022886"/>
              <a:ext cx="915131" cy="530874"/>
            </a:xfrm>
            <a:prstGeom prst="rect">
              <a:avLst/>
            </a:prstGeom>
          </p:spPr>
        </p:pic>
        <p:pic>
          <p:nvPicPr>
            <p:cNvPr id="163" name="Imagen 162">
              <a:extLst>
                <a:ext uri="{FF2B5EF4-FFF2-40B4-BE49-F238E27FC236}">
                  <a16:creationId xmlns:a16="http://schemas.microsoft.com/office/drawing/2014/main" id="{1C54D2ED-9AB0-4DC7-9A79-0A5E2218C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010756" y="3272410"/>
              <a:ext cx="541788" cy="619186"/>
            </a:xfrm>
            <a:prstGeom prst="rect">
              <a:avLst/>
            </a:prstGeom>
          </p:spPr>
        </p:pic>
        <p:sp>
          <p:nvSpPr>
            <p:cNvPr id="164" name="CuadroTexto 163">
              <a:extLst>
                <a:ext uri="{FF2B5EF4-FFF2-40B4-BE49-F238E27FC236}">
                  <a16:creationId xmlns:a16="http://schemas.microsoft.com/office/drawing/2014/main" id="{352E469C-80F2-4538-978A-C2A6ED657FB3}"/>
                </a:ext>
              </a:extLst>
            </p:cNvPr>
            <p:cNvSpPr txBox="1"/>
            <p:nvPr/>
          </p:nvSpPr>
          <p:spPr>
            <a:xfrm>
              <a:off x="6724257" y="3806308"/>
              <a:ext cx="9724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/>
                <a:t>ANALIZAR&lt;</a:t>
              </a:r>
            </a:p>
          </p:txBody>
        </p:sp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4009587A-4493-48B9-8B6C-19D0048A790C}"/>
                </a:ext>
              </a:extLst>
            </p:cNvPr>
            <p:cNvGrpSpPr/>
            <p:nvPr/>
          </p:nvGrpSpPr>
          <p:grpSpPr>
            <a:xfrm>
              <a:off x="4213564" y="3002743"/>
              <a:ext cx="1394767" cy="1030089"/>
              <a:chOff x="3824418" y="4188683"/>
              <a:chExt cx="1394767" cy="1030089"/>
            </a:xfrm>
          </p:grpSpPr>
          <p:pic>
            <p:nvPicPr>
              <p:cNvPr id="170" name="Gráfico 169" descr="Cubo y fregona">
                <a:extLst>
                  <a:ext uri="{FF2B5EF4-FFF2-40B4-BE49-F238E27FC236}">
                    <a16:creationId xmlns:a16="http://schemas.microsoft.com/office/drawing/2014/main" id="{B0F82B41-B6EE-4C51-A30D-5AC56A7AE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303975" y="4256347"/>
                <a:ext cx="589584" cy="589584"/>
              </a:xfrm>
              <a:prstGeom prst="rect">
                <a:avLst/>
              </a:prstGeom>
            </p:spPr>
          </p:pic>
          <p:sp>
            <p:nvSpPr>
              <p:cNvPr id="171" name="CuadroTexto 170">
                <a:extLst>
                  <a:ext uri="{FF2B5EF4-FFF2-40B4-BE49-F238E27FC236}">
                    <a16:creationId xmlns:a16="http://schemas.microsoft.com/office/drawing/2014/main" id="{31D523BD-DC5A-4C30-943F-A44BA9BA1AA7}"/>
                  </a:ext>
                </a:extLst>
              </p:cNvPr>
              <p:cNvSpPr txBox="1"/>
              <p:nvPr/>
            </p:nvSpPr>
            <p:spPr>
              <a:xfrm>
                <a:off x="3824418" y="4818662"/>
                <a:ext cx="1394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/>
                  <a:t>KIT DE LIMPIEZA Y</a:t>
                </a:r>
              </a:p>
              <a:p>
                <a:pPr algn="ctr"/>
                <a:r>
                  <a:rPr lang="es-ES" sz="1000" b="1" dirty="0"/>
                  <a:t>PLAN DE INSPECCIÓN</a:t>
                </a:r>
              </a:p>
            </p:txBody>
          </p:sp>
          <p:pic>
            <p:nvPicPr>
              <p:cNvPr id="173" name="Gráfico 172" descr="Lista de comprobación RTL">
                <a:extLst>
                  <a:ext uri="{FF2B5EF4-FFF2-40B4-BE49-F238E27FC236}">
                    <a16:creationId xmlns:a16="http://schemas.microsoft.com/office/drawing/2014/main" id="{C2E21867-71DE-4F5F-A9EF-FD2FC1184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101044" y="4188683"/>
                <a:ext cx="405862" cy="405862"/>
              </a:xfrm>
              <a:prstGeom prst="rect">
                <a:avLst/>
              </a:prstGeom>
            </p:spPr>
          </p:pic>
          <p:pic>
            <p:nvPicPr>
              <p:cNvPr id="174" name="Gráfico 173" descr="Reciclar">
                <a:extLst>
                  <a:ext uri="{FF2B5EF4-FFF2-40B4-BE49-F238E27FC236}">
                    <a16:creationId xmlns:a16="http://schemas.microsoft.com/office/drawing/2014/main" id="{5B06EFF5-9852-4497-9BC0-DF7F05CE7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3901814" y="4432250"/>
                <a:ext cx="346609" cy="346609"/>
              </a:xfrm>
              <a:prstGeom prst="rect">
                <a:avLst/>
              </a:prstGeom>
            </p:spPr>
          </p:pic>
        </p:grpSp>
        <p:cxnSp>
          <p:nvCxnSpPr>
            <p:cNvPr id="169" name="Conector recto de flecha 168">
              <a:extLst>
                <a:ext uri="{FF2B5EF4-FFF2-40B4-BE49-F238E27FC236}">
                  <a16:creationId xmlns:a16="http://schemas.microsoft.com/office/drawing/2014/main" id="{CDA3B091-360B-46BD-97B4-E60B17F36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1111" y="3459644"/>
              <a:ext cx="607220" cy="30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8" name="3 Imagen">
            <a:extLst>
              <a:ext uri="{FF2B5EF4-FFF2-40B4-BE49-F238E27FC236}">
                <a16:creationId xmlns:a16="http://schemas.microsoft.com/office/drawing/2014/main" id="{144C1F23-22A2-4577-8A70-C6282F1E7E03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90" name="3 Imagen">
            <a:extLst>
              <a:ext uri="{FF2B5EF4-FFF2-40B4-BE49-F238E27FC236}">
                <a16:creationId xmlns:a16="http://schemas.microsoft.com/office/drawing/2014/main" id="{631E564C-4C0D-471C-BFA3-27AA9F142BC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Gráfico 6" descr="Piel de plátano">
            <a:extLst>
              <a:ext uri="{FF2B5EF4-FFF2-40B4-BE49-F238E27FC236}">
                <a16:creationId xmlns:a16="http://schemas.microsoft.com/office/drawing/2014/main" id="{CCF751EF-8098-415B-B675-BF9AB62AE4A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H="1">
            <a:off x="7624725" y="4286986"/>
            <a:ext cx="550835" cy="550835"/>
          </a:xfrm>
          <a:prstGeom prst="rect">
            <a:avLst/>
          </a:prstGeom>
        </p:spPr>
      </p:pic>
      <p:sp>
        <p:nvSpPr>
          <p:cNvPr id="96" name="CuadroTexto 95">
            <a:extLst>
              <a:ext uri="{FF2B5EF4-FFF2-40B4-BE49-F238E27FC236}">
                <a16:creationId xmlns:a16="http://schemas.microsoft.com/office/drawing/2014/main" id="{0523172C-7A44-46B2-962C-0A52BC99DFFD}"/>
              </a:ext>
            </a:extLst>
          </p:cNvPr>
          <p:cNvSpPr txBox="1"/>
          <p:nvPr/>
        </p:nvSpPr>
        <p:spPr>
          <a:xfrm>
            <a:off x="7369019" y="4779710"/>
            <a:ext cx="972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/>
              <a:t>LOCALIZAR FUENTES SUCIEDAD</a:t>
            </a:r>
          </a:p>
        </p:txBody>
      </p:sp>
      <p:pic>
        <p:nvPicPr>
          <p:cNvPr id="92" name="3 Imagen">
            <a:extLst>
              <a:ext uri="{FF2B5EF4-FFF2-40B4-BE49-F238E27FC236}">
                <a16:creationId xmlns:a16="http://schemas.microsoft.com/office/drawing/2014/main" id="{3A68B058-720A-4896-A80F-D1F81C3C1AF3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1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D617B9ED-04BE-413A-B676-59FA6DCACE71}"/>
              </a:ext>
            </a:extLst>
          </p:cNvPr>
          <p:cNvGrpSpPr/>
          <p:nvPr/>
        </p:nvGrpSpPr>
        <p:grpSpPr>
          <a:xfrm>
            <a:off x="1447397" y="1033859"/>
            <a:ext cx="6539452" cy="6894910"/>
            <a:chOff x="1447397" y="-36910"/>
            <a:chExt cx="6539452" cy="6894910"/>
          </a:xfrm>
        </p:grpSpPr>
        <p:pic>
          <p:nvPicPr>
            <p:cNvPr id="15" name="Gráfico 14" descr="Supervisar">
              <a:extLst>
                <a:ext uri="{FF2B5EF4-FFF2-40B4-BE49-F238E27FC236}">
                  <a16:creationId xmlns:a16="http://schemas.microsoft.com/office/drawing/2014/main" id="{5954781F-DCCF-4923-B654-5682D107A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7397" y="-36910"/>
              <a:ext cx="6539452" cy="6894910"/>
            </a:xfrm>
            <a:prstGeom prst="rect">
              <a:avLst/>
            </a:prstGeom>
          </p:spPr>
        </p:pic>
        <p:sp>
          <p:nvSpPr>
            <p:cNvPr id="6" name="19 Rectángulo">
              <a:extLst>
                <a:ext uri="{FF2B5EF4-FFF2-40B4-BE49-F238E27FC236}">
                  <a16:creationId xmlns:a16="http://schemas.microsoft.com/office/drawing/2014/main" id="{6B4C4C11-1B7F-4F7A-B82E-A189B5E10F4D}"/>
                </a:ext>
              </a:extLst>
            </p:cNvPr>
            <p:cNvSpPr/>
            <p:nvPr/>
          </p:nvSpPr>
          <p:spPr>
            <a:xfrm>
              <a:off x="2387862" y="3410545"/>
              <a:ext cx="4658522" cy="156234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8215" tIns="39108" rIns="78215" bIns="39108" rtlCol="0" anchor="ctr"/>
            <a:lstStyle/>
            <a:p>
              <a:pPr algn="ctr">
                <a:spcBef>
                  <a:spcPct val="0"/>
                </a:spcBef>
              </a:pPr>
              <a:r>
                <a:rPr lang="es-ES" sz="2000" b="1" dirty="0">
                  <a:solidFill>
                    <a:schemeClr val="tx1"/>
                  </a:solidFill>
                  <a:ea typeface="+mj-ea"/>
                  <a:cs typeface="Arial"/>
                </a:rPr>
                <a:t>NO ES MAS LIMPIO EL QUE MAS LIMPIA SI NO EL QUE MENOS ENSUCIA</a:t>
              </a:r>
              <a:endParaRPr lang="es-ES_tradnl" sz="2000" dirty="0">
                <a:solidFill>
                  <a:schemeClr val="tx1"/>
                </a:solidFill>
                <a:ea typeface="+mj-ea"/>
                <a:cs typeface="Arial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AA24F23-97E4-425E-B097-B0F31C3ACCFB}"/>
              </a:ext>
            </a:extLst>
          </p:cNvPr>
          <p:cNvGrpSpPr/>
          <p:nvPr/>
        </p:nvGrpSpPr>
        <p:grpSpPr>
          <a:xfrm>
            <a:off x="3673459" y="2752615"/>
            <a:ext cx="2278398" cy="1934096"/>
            <a:chOff x="7663671" y="146517"/>
            <a:chExt cx="2278398" cy="1934096"/>
          </a:xfrm>
        </p:grpSpPr>
        <p:pic>
          <p:nvPicPr>
            <p:cNvPr id="10" name="Gráfico 9" descr="Signo de interrogación">
              <a:extLst>
                <a:ext uri="{FF2B5EF4-FFF2-40B4-BE49-F238E27FC236}">
                  <a16:creationId xmlns:a16="http://schemas.microsoft.com/office/drawing/2014/main" id="{D4ABD515-F9A3-4325-B031-92BE1E863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7663671" y="668568"/>
              <a:ext cx="1412045" cy="1412045"/>
            </a:xfrm>
            <a:prstGeom prst="rect">
              <a:avLst/>
            </a:prstGeom>
          </p:spPr>
        </p:pic>
        <p:pic>
          <p:nvPicPr>
            <p:cNvPr id="11" name="Gráfico 10" descr="Signo de interrogación RTL">
              <a:extLst>
                <a:ext uri="{FF2B5EF4-FFF2-40B4-BE49-F238E27FC236}">
                  <a16:creationId xmlns:a16="http://schemas.microsoft.com/office/drawing/2014/main" id="{B5960F52-CDDB-4096-BB02-DDA08E10C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8611978" y="146517"/>
              <a:ext cx="1330091" cy="1429725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99956EB8-D647-4F7B-8BFE-5B045B632D76}"/>
                </a:ext>
              </a:extLst>
            </p:cNvPr>
            <p:cNvSpPr txBox="1"/>
            <p:nvPr/>
          </p:nvSpPr>
          <p:spPr>
            <a:xfrm flipH="1">
              <a:off x="8426346" y="298844"/>
              <a:ext cx="850678" cy="1600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600" b="1" dirty="0"/>
                <a:t>5</a:t>
              </a:r>
            </a:p>
          </p:txBody>
        </p:sp>
      </p:grpSp>
      <p:pic>
        <p:nvPicPr>
          <p:cNvPr id="13" name="3 Imagen">
            <a:extLst>
              <a:ext uri="{FF2B5EF4-FFF2-40B4-BE49-F238E27FC236}">
                <a16:creationId xmlns:a16="http://schemas.microsoft.com/office/drawing/2014/main" id="{ECB043FF-454F-4C50-A799-F60CF947453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4" name="3 Imagen">
            <a:extLst>
              <a:ext uri="{FF2B5EF4-FFF2-40B4-BE49-F238E27FC236}">
                <a16:creationId xmlns:a16="http://schemas.microsoft.com/office/drawing/2014/main" id="{E83D275A-5652-4114-98C4-092716DFFDB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76ECD43-3FF7-4F36-8B3E-46C9356B6E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17" name="3 Imagen">
            <a:extLst>
              <a:ext uri="{FF2B5EF4-FFF2-40B4-BE49-F238E27FC236}">
                <a16:creationId xmlns:a16="http://schemas.microsoft.com/office/drawing/2014/main" id="{FE785CBB-42F0-4C73-9079-642CD04B2C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7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4C6C19A-00E5-4712-9F71-A284CA4FE092}"/>
              </a:ext>
            </a:extLst>
          </p:cNvPr>
          <p:cNvSpPr/>
          <p:nvPr/>
        </p:nvSpPr>
        <p:spPr>
          <a:xfrm>
            <a:off x="1328135" y="3439674"/>
            <a:ext cx="6912481" cy="258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Integrar la limpieza como parte del trabajo diario.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Asumir la limpieza como una actividad de mantenimiento autónomo.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abolir la distinción entre operario de proceso, operario de limpieza y técnico de mantenimiento.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El trabajo de limpieza  genera conocimiento sobre el equipo. No se trata de una actividad simple que se pueda delegar en personas de menor cualificación.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elevar la limpieza a la búsqueda de las fuentes de contaminación con el objeto de eliminar sus causas primarias.</a:t>
            </a:r>
          </a:p>
        </p:txBody>
      </p:sp>
      <p:pic>
        <p:nvPicPr>
          <p:cNvPr id="15" name="3 Imagen">
            <a:extLst>
              <a:ext uri="{FF2B5EF4-FFF2-40B4-BE49-F238E27FC236}">
                <a16:creationId xmlns:a16="http://schemas.microsoft.com/office/drawing/2014/main" id="{D40F6FEB-C87D-4B69-8E05-51911BE542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6" name="3 Imagen">
            <a:extLst>
              <a:ext uri="{FF2B5EF4-FFF2-40B4-BE49-F238E27FC236}">
                <a16:creationId xmlns:a16="http://schemas.microsoft.com/office/drawing/2014/main" id="{44C63AC3-2FE4-4078-B585-8C3EC1A42B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C5B478C-9F28-4FF9-9671-52C7F8AC3DB9}"/>
              </a:ext>
            </a:extLst>
          </p:cNvPr>
          <p:cNvSpPr txBox="1"/>
          <p:nvPr/>
        </p:nvSpPr>
        <p:spPr>
          <a:xfrm>
            <a:off x="1137949" y="2423958"/>
            <a:ext cx="7497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CRITERIOS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456DB3-DD6F-41B4-B9FD-ACFB7F6D9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4E2184CB-CB17-4495-9527-02A1C3CAFD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1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BBEE173F-A0BA-462B-A2AA-313851ADDBA1}"/>
              </a:ext>
            </a:extLst>
          </p:cNvPr>
          <p:cNvSpPr/>
          <p:nvPr/>
        </p:nvSpPr>
        <p:spPr>
          <a:xfrm>
            <a:off x="2564978" y="1463263"/>
            <a:ext cx="1205555" cy="120555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rgbClr val="C5CA82">
              <a:alpha val="89804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IDENTIFICAR</a:t>
            </a:r>
          </a:p>
        </p:txBody>
      </p:sp>
      <p:pic>
        <p:nvPicPr>
          <p:cNvPr id="19" name="3 Imagen">
            <a:extLst>
              <a:ext uri="{FF2B5EF4-FFF2-40B4-BE49-F238E27FC236}">
                <a16:creationId xmlns:a16="http://schemas.microsoft.com/office/drawing/2014/main" id="{A671F57D-BE55-45BE-AD52-36B6199614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20" name="3 Imagen">
            <a:extLst>
              <a:ext uri="{FF2B5EF4-FFF2-40B4-BE49-F238E27FC236}">
                <a16:creationId xmlns:a16="http://schemas.microsoft.com/office/drawing/2014/main" id="{1E003A3B-70C0-4465-AB34-98C0F47FB2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A2F07EE-A463-4A0E-AEEA-7C6C1D0C7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61031E1-343B-40BE-8F90-0839EF3D716F}"/>
              </a:ext>
            </a:extLst>
          </p:cNvPr>
          <p:cNvSpPr txBox="1"/>
          <p:nvPr/>
        </p:nvSpPr>
        <p:spPr>
          <a:xfrm>
            <a:off x="1150088" y="3712684"/>
            <a:ext cx="69252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/>
              <a:t>PLANTILLA GENERAL INCIDENCIA/PLANES DE ACCION</a:t>
            </a: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83E50EB9-33FB-4341-AFBA-4BF11EF3279D}"/>
              </a:ext>
            </a:extLst>
          </p:cNvPr>
          <p:cNvSpPr/>
          <p:nvPr/>
        </p:nvSpPr>
        <p:spPr>
          <a:xfrm>
            <a:off x="3885425" y="1463262"/>
            <a:ext cx="1205555" cy="120555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rgbClr val="D4E763">
              <a:alpha val="76471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3333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3333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CLASIFICAR</a:t>
            </a: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91477819-7D60-4A9A-9B37-255210506583}"/>
              </a:ext>
            </a:extLst>
          </p:cNvPr>
          <p:cNvSpPr/>
          <p:nvPr/>
        </p:nvSpPr>
        <p:spPr>
          <a:xfrm>
            <a:off x="5373469" y="1463261"/>
            <a:ext cx="1205555" cy="1205555"/>
          </a:xfrm>
          <a:custGeom>
            <a:avLst/>
            <a:gdLst>
              <a:gd name="connsiteX0" fmla="*/ 0 w 1148003"/>
              <a:gd name="connsiteY0" fmla="*/ 574002 h 1148003"/>
              <a:gd name="connsiteX1" fmla="*/ 574002 w 1148003"/>
              <a:gd name="connsiteY1" fmla="*/ 0 h 1148003"/>
              <a:gd name="connsiteX2" fmla="*/ 1148004 w 1148003"/>
              <a:gd name="connsiteY2" fmla="*/ 574002 h 1148003"/>
              <a:gd name="connsiteX3" fmla="*/ 574002 w 1148003"/>
              <a:gd name="connsiteY3" fmla="*/ 1148004 h 1148003"/>
              <a:gd name="connsiteX4" fmla="*/ 0 w 1148003"/>
              <a:gd name="connsiteY4" fmla="*/ 574002 h 114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003" h="1148003">
                <a:moveTo>
                  <a:pt x="0" y="574002"/>
                </a:moveTo>
                <a:cubicBezTo>
                  <a:pt x="0" y="256989"/>
                  <a:pt x="256989" y="0"/>
                  <a:pt x="574002" y="0"/>
                </a:cubicBezTo>
                <a:cubicBezTo>
                  <a:pt x="891015" y="0"/>
                  <a:pt x="1148004" y="256989"/>
                  <a:pt x="1148004" y="574002"/>
                </a:cubicBezTo>
                <a:cubicBezTo>
                  <a:pt x="1148004" y="891015"/>
                  <a:pt x="891015" y="1148004"/>
                  <a:pt x="574002" y="1148004"/>
                </a:cubicBezTo>
                <a:cubicBezTo>
                  <a:pt x="256989" y="1148004"/>
                  <a:pt x="0" y="891015"/>
                  <a:pt x="0" y="574002"/>
                </a:cubicBezTo>
                <a:close/>
              </a:path>
            </a:pathLst>
          </a:custGeom>
          <a:solidFill>
            <a:srgbClr val="E9F456">
              <a:alpha val="63137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26667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26667"/>
            </a:schemeClr>
          </a:effectRef>
          <a:fontRef idx="minor">
            <a:schemeClr val="lt1"/>
          </a:fontRef>
        </p:style>
        <p:txBody>
          <a:bodyPr spcFirstLastPara="0" vert="horz" wrap="square" lIns="182091" tIns="182091" rIns="182091" bIns="182091" numCol="1" spcCol="1270" anchor="ctr" anchorCtr="0">
            <a:noAutofit/>
          </a:bodyPr>
          <a:lstStyle/>
          <a:p>
            <a:pPr algn="ctr" defTabSz="48893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1100" b="1" dirty="0">
                <a:solidFill>
                  <a:schemeClr val="tx1"/>
                </a:solidFill>
              </a:rPr>
              <a:t>ELIMINAR</a:t>
            </a:r>
          </a:p>
        </p:txBody>
      </p:sp>
      <p:pic>
        <p:nvPicPr>
          <p:cNvPr id="9" name="3 Imagen">
            <a:extLst>
              <a:ext uri="{FF2B5EF4-FFF2-40B4-BE49-F238E27FC236}">
                <a16:creationId xmlns:a16="http://schemas.microsoft.com/office/drawing/2014/main" id="{49CE89CF-3D98-40DE-901B-BA5E98FEC2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2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A2DBA42-5363-482D-9148-2D6E36098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77010" y="-299492"/>
            <a:ext cx="5989981" cy="891603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B23183E-D16F-4532-BEE3-5FA30BD6C916}"/>
              </a:ext>
            </a:extLst>
          </p:cNvPr>
          <p:cNvSpPr txBox="1"/>
          <p:nvPr/>
        </p:nvSpPr>
        <p:spPr>
          <a:xfrm>
            <a:off x="2557670" y="4897334"/>
            <a:ext cx="320702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SE TRATA EN LA 1ª Y 2ª 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09FD2D3-1B81-465B-B7A7-5C3B67AE535F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H="1" flipV="1">
            <a:off x="4055165" y="2780300"/>
            <a:ext cx="106018" cy="2117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97D3B6B0-3651-4162-B332-4492A9C48D40}"/>
              </a:ext>
            </a:extLst>
          </p:cNvPr>
          <p:cNvSpPr/>
          <p:nvPr/>
        </p:nvSpPr>
        <p:spPr>
          <a:xfrm>
            <a:off x="1934817" y="2236961"/>
            <a:ext cx="4240696" cy="543339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5DA507-0300-41D2-82CB-BFF7C1FCE409}"/>
              </a:ext>
            </a:extLst>
          </p:cNvPr>
          <p:cNvSpPr txBox="1"/>
          <p:nvPr/>
        </p:nvSpPr>
        <p:spPr>
          <a:xfrm>
            <a:off x="5423432" y="5473804"/>
            <a:ext cx="3207026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SI HAY SUCIEDAD ES FUENTE DE SUCIEDAD. SI NO HAY SUCIEDAD NO ES PARCHE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E4C4972-BAD0-4A85-8B3D-30A9175724F9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7026945" y="2780299"/>
            <a:ext cx="216020" cy="269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39FC2C-B5E5-42C3-BCA8-E696A7EA797D}"/>
              </a:ext>
            </a:extLst>
          </p:cNvPr>
          <p:cNvSpPr/>
          <p:nvPr/>
        </p:nvSpPr>
        <p:spPr>
          <a:xfrm>
            <a:off x="6489582" y="2236960"/>
            <a:ext cx="1506767" cy="543339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6B676B-AD1F-4372-A93B-04850E586FB4}"/>
              </a:ext>
            </a:extLst>
          </p:cNvPr>
          <p:cNvSpPr txBox="1"/>
          <p:nvPr/>
        </p:nvSpPr>
        <p:spPr>
          <a:xfrm>
            <a:off x="1036845" y="1020169"/>
            <a:ext cx="7497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REGISTRO SUCIEDAD </a:t>
            </a:r>
          </a:p>
        </p:txBody>
      </p:sp>
      <p:pic>
        <p:nvPicPr>
          <p:cNvPr id="11" name="3 Imagen">
            <a:extLst>
              <a:ext uri="{FF2B5EF4-FFF2-40B4-BE49-F238E27FC236}">
                <a16:creationId xmlns:a16="http://schemas.microsoft.com/office/drawing/2014/main" id="{1B473DB2-1853-4904-BD4B-7C6ED2F19C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5D77691-FAF3-4B85-A70F-E770EDBBD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557B026-CF3D-454B-BB9D-CA18CE73B66C}"/>
              </a:ext>
            </a:extLst>
          </p:cNvPr>
          <p:cNvSpPr txBox="1"/>
          <p:nvPr/>
        </p:nvSpPr>
        <p:spPr>
          <a:xfrm>
            <a:off x="1014812" y="793361"/>
            <a:ext cx="7497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PLAN DE INSPECCION Y LIMPIEZA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8292A8-8550-46C8-8A50-E48643AAA51E}"/>
              </a:ext>
            </a:extLst>
          </p:cNvPr>
          <p:cNvSpPr txBox="1"/>
          <p:nvPr/>
        </p:nvSpPr>
        <p:spPr>
          <a:xfrm>
            <a:off x="2633479" y="1575817"/>
            <a:ext cx="287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ES LA AUDITORIA DIARIA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4D7354-0436-4C60-9C71-6E6951ECF21B}"/>
              </a:ext>
            </a:extLst>
          </p:cNvPr>
          <p:cNvSpPr/>
          <p:nvPr/>
        </p:nvSpPr>
        <p:spPr>
          <a:xfrm>
            <a:off x="6446595" y="1923857"/>
            <a:ext cx="2266147" cy="469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KIT DE LIMPIEZA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493772-B78B-4FA1-9BC1-1C04C6D62548}"/>
              </a:ext>
            </a:extLst>
          </p:cNvPr>
          <p:cNvSpPr txBox="1"/>
          <p:nvPr/>
        </p:nvSpPr>
        <p:spPr>
          <a:xfrm>
            <a:off x="6202017" y="2804354"/>
            <a:ext cx="29419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SEGÚN LAS FUENTES DE SUCIEDAD QUE HEMOS ENCONTRADO NECESITAREMOS UNOS UTILES DE LIMPIEZA ESPECIFICOS Y UNOS CONTENEDORES DE RECICLAJE APROPIADOS.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DFA3C0-DB42-40D9-A04E-FCAD9444A6B4}"/>
              </a:ext>
            </a:extLst>
          </p:cNvPr>
          <p:cNvSpPr txBox="1"/>
          <p:nvPr/>
        </p:nvSpPr>
        <p:spPr>
          <a:xfrm>
            <a:off x="7069054" y="1706655"/>
            <a:ext cx="120790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ighlight>
                  <a:srgbClr val="FFFF00"/>
                </a:highlight>
              </a:rPr>
              <a:t>ESTANDAR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240C3D-27E3-4781-AA4E-F064F2A3AB56}"/>
              </a:ext>
            </a:extLst>
          </p:cNvPr>
          <p:cNvSpPr txBox="1"/>
          <p:nvPr/>
        </p:nvSpPr>
        <p:spPr>
          <a:xfrm>
            <a:off x="5200909" y="1619224"/>
            <a:ext cx="120790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ighlight>
                  <a:srgbClr val="FFFF00"/>
                </a:highlight>
              </a:rPr>
              <a:t>ESTANDAR</a:t>
            </a:r>
          </a:p>
        </p:txBody>
      </p:sp>
      <p:pic>
        <p:nvPicPr>
          <p:cNvPr id="10" name="3 Imagen">
            <a:extLst>
              <a:ext uri="{FF2B5EF4-FFF2-40B4-BE49-F238E27FC236}">
                <a16:creationId xmlns:a16="http://schemas.microsoft.com/office/drawing/2014/main" id="{88BA8BD1-2B34-4FC1-8AFC-006E3E11BC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FB14342F-30A5-4A33-8821-AF437B75D1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435339-3D44-482F-A1A8-836DFC4E3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356" y="1923857"/>
            <a:ext cx="4350774" cy="6167923"/>
          </a:xfrm>
          <a:prstGeom prst="rect">
            <a:avLst/>
          </a:prstGeom>
        </p:spPr>
      </p:pic>
      <p:pic>
        <p:nvPicPr>
          <p:cNvPr id="14" name="3 Imagen">
            <a:extLst>
              <a:ext uri="{FF2B5EF4-FFF2-40B4-BE49-F238E27FC236}">
                <a16:creationId xmlns:a16="http://schemas.microsoft.com/office/drawing/2014/main" id="{140F1EC5-FEFC-4A71-B9FB-DD32B6969B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6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1. La 3ª S consiste en: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Limpiar </a:t>
            </a:r>
            <a:r>
              <a:rPr lang="es-ES" sz="2000" dirty="0">
                <a:solidFill>
                  <a:srgbClr val="383131"/>
                </a:solidFill>
              </a:rPr>
              <a:t>para que vean las vistas que esta limpio.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Limpiar </a:t>
            </a:r>
            <a:r>
              <a:rPr lang="es-ES" sz="2000" dirty="0">
                <a:solidFill>
                  <a:srgbClr val="383131"/>
                </a:solidFill>
              </a:rPr>
              <a:t>las máquinas para que funcionen bien.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Identificar </a:t>
            </a:r>
            <a:r>
              <a:rPr lang="es-ES" sz="2000" dirty="0">
                <a:solidFill>
                  <a:srgbClr val="383131"/>
                </a:solidFill>
              </a:rPr>
              <a:t>los puntos de suciedad para limpiarlos semanalmente.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b="1" dirty="0">
                <a:solidFill>
                  <a:srgbClr val="383131"/>
                </a:solidFill>
              </a:rPr>
              <a:t>Limpiar </a:t>
            </a:r>
            <a:r>
              <a:rPr lang="es-ES" sz="2000" dirty="0">
                <a:solidFill>
                  <a:srgbClr val="383131"/>
                </a:solidFill>
              </a:rPr>
              <a:t>para identificar y clasificar los puntos de suciedad para la eliminarlos, en lo posible, desde la causa raíz. 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AAA837C2-1A9A-47B8-A0F2-49FD7035F2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9ABF0E8-06C5-4E98-BA69-D7515FD2D6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3B111F4-61E4-45B2-9C61-72DCF076C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55728"/>
            <a:ext cx="1593329" cy="192527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9B3CBFF6-E099-450A-B540-26D05F1A32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2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8" y="2899186"/>
            <a:ext cx="685905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2. Una ventaja importante al aplicar la 3ª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435419" cy="314464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Reduce el riesgo potencial de incidentes/accidentes.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El suelo está mas brillante.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Mejora el confort laboral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253746"/>
                </a:solidFill>
              </a:rPr>
              <a:t>La A y la C son correctas.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5A892464-30F0-4049-8262-EB12E480F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33D5E4B-A8F5-4739-9B97-3DA18AA8E1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26A54B-5DEC-4870-9517-3DEC81569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3643BAE-598F-46D5-A580-1B193E3371CC}"/>
              </a:ext>
            </a:extLst>
          </p:cNvPr>
          <p:cNvSpPr/>
          <p:nvPr/>
        </p:nvSpPr>
        <p:spPr>
          <a:xfrm>
            <a:off x="-4631989" y="5621693"/>
            <a:ext cx="3915894" cy="5076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Integrar la limpieza como parte del trabajo diario.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Asumir la limpieza como una actividad de mantenimiento autónomo.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abolir la distinción entre operario de proceso, operario de limpieza y técnico de mantenimiento.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El trabajo de limpieza  genera conocimiento sobre el equipo. No se trata de una actividad simple que se pueda delegar en personas de menor cualificación.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elevar la limpieza a la búsqueda de las fuentes de contaminación con el objeto de eliminar sus causas primarias.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F6798AE-812F-4900-A14B-B542186C995D}"/>
              </a:ext>
            </a:extLst>
          </p:cNvPr>
          <p:cNvSpPr/>
          <p:nvPr/>
        </p:nvSpPr>
        <p:spPr>
          <a:xfrm>
            <a:off x="-4631990" y="1006360"/>
            <a:ext cx="4160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Reduce el riesgo potencial de incidentes/accidentes.</a:t>
            </a:r>
          </a:p>
          <a:p>
            <a:pPr algn="ctr"/>
            <a:r>
              <a:rPr lang="es-ES" sz="2000" b="1" dirty="0"/>
              <a:t>Mejora el confort laboral.</a:t>
            </a:r>
          </a:p>
          <a:p>
            <a:pPr algn="ctr"/>
            <a:r>
              <a:rPr lang="es-ES" sz="2000" b="1" dirty="0"/>
              <a:t>Se incrementa el la vida útil de los equipos y máquinas.</a:t>
            </a:r>
          </a:p>
          <a:p>
            <a:pPr algn="ctr"/>
            <a:r>
              <a:rPr lang="es-ES" sz="2000" b="1" dirty="0"/>
              <a:t>Las averías se pueden identificar más fácilmente.</a:t>
            </a:r>
          </a:p>
          <a:p>
            <a:pPr algn="ctr"/>
            <a:r>
              <a:rPr lang="es-ES" sz="2000" b="1" dirty="0"/>
              <a:t>Aumento significativo de la Productividad</a:t>
            </a:r>
          </a:p>
          <a:p>
            <a:pPr algn="ctr"/>
            <a:r>
              <a:rPr lang="es-ES" sz="2000" b="1" dirty="0"/>
              <a:t>Se reducen los despilfarros de materiales y energía.</a:t>
            </a:r>
          </a:p>
          <a:p>
            <a:pPr algn="ctr"/>
            <a:r>
              <a:rPr lang="es-ES" sz="2000" b="1" dirty="0"/>
              <a:t>La calidad del producto se mejora.</a:t>
            </a:r>
          </a:p>
        </p:txBody>
      </p:sp>
      <p:pic>
        <p:nvPicPr>
          <p:cNvPr id="11" name="3 Imagen">
            <a:extLst>
              <a:ext uri="{FF2B5EF4-FFF2-40B4-BE49-F238E27FC236}">
                <a16:creationId xmlns:a16="http://schemas.microsoft.com/office/drawing/2014/main" id="{16264BDB-CC6E-4E4B-8C3A-41F01E66A6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5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3. Un criterio para realizar correctamente la 3ª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Asumir la limpieza como una actividad de mantenimiento autónomo.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Solo limpian los encargados de la limpieza.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El objetivo no es eliminar las fuentes de suciedad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Se debe hacer un plan de limpieza fue de horas de trabajo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8B33A22-8E0C-4C54-94E9-A40DD8291D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76F9986C-1D91-45DC-9765-448001DBC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C19C12DD-CCD4-42E6-AA1B-85A804A616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152400" y="8481810"/>
            <a:ext cx="9144000" cy="6813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83F3DAB-6AE5-4B79-82A6-364194EB2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10" name="3 Imagen">
            <a:extLst>
              <a:ext uri="{FF2B5EF4-FFF2-40B4-BE49-F238E27FC236}">
                <a16:creationId xmlns:a16="http://schemas.microsoft.com/office/drawing/2014/main" id="{488B5511-89A5-41EE-8D85-BB333E87D0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6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4. La 3ª 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Una buena práctica para los tiempos muertos.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Que todo este limpio para las visitas.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Inspeccionar.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La ultima 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0E6C609E-88F0-4938-B696-28603AA4F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F9D3AA21-E86B-4145-8720-6161A861F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152400" y="156404"/>
            <a:ext cx="9144000" cy="681317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725D0DED-4FD1-4CB6-9872-4038AFBC60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526BD2-FC88-4C9E-970D-567A81619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AF04E35-70B4-4C06-A0A9-6DC1AF281A0C}"/>
              </a:ext>
            </a:extLst>
          </p:cNvPr>
          <p:cNvSpPr/>
          <p:nvPr/>
        </p:nvSpPr>
        <p:spPr>
          <a:xfrm>
            <a:off x="-4631989" y="5621693"/>
            <a:ext cx="3915894" cy="5076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Integrar la limpieza como parte del trabajo diario.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Asumir la limpieza como una actividad de mantenimiento autónomo.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abolir la distinción entre operario de proceso, operario de limpieza y técnico de mantenimiento.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El trabajo de limpieza  genera conocimiento sobre el equipo. No se trata de una actividad simple que se pueda delegar en personas de menor cualificación.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Se debe elevar la limpieza a la búsqueda de las fuentes de contaminación con el objeto de eliminar sus causas primarias.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FCA9A6-400B-4F6C-9DBD-41D9D51A8D81}"/>
              </a:ext>
            </a:extLst>
          </p:cNvPr>
          <p:cNvSpPr/>
          <p:nvPr/>
        </p:nvSpPr>
        <p:spPr>
          <a:xfrm>
            <a:off x="-4631990" y="1006360"/>
            <a:ext cx="4160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Reduce el riesgo potencial de incidentes/accidentes.</a:t>
            </a:r>
          </a:p>
          <a:p>
            <a:pPr algn="ctr"/>
            <a:r>
              <a:rPr lang="es-ES" sz="2000" b="1" dirty="0"/>
              <a:t>Mejora el confort laboral.</a:t>
            </a:r>
          </a:p>
          <a:p>
            <a:pPr algn="ctr"/>
            <a:r>
              <a:rPr lang="es-ES" sz="2000" b="1" dirty="0"/>
              <a:t>Se incrementa el la vida útil de los equipos y máquinas.</a:t>
            </a:r>
          </a:p>
          <a:p>
            <a:pPr algn="ctr"/>
            <a:r>
              <a:rPr lang="es-ES" sz="2000" b="1" dirty="0"/>
              <a:t>Las averías se pueden identificar más fácilmente.</a:t>
            </a:r>
          </a:p>
          <a:p>
            <a:pPr algn="ctr"/>
            <a:r>
              <a:rPr lang="es-ES" sz="2000" b="1" dirty="0"/>
              <a:t>Aumento significativo de la Productividad</a:t>
            </a:r>
          </a:p>
          <a:p>
            <a:pPr algn="ctr"/>
            <a:r>
              <a:rPr lang="es-ES" sz="2000" b="1" dirty="0"/>
              <a:t>Se reducen los despilfarros de materiales y energía.</a:t>
            </a:r>
          </a:p>
          <a:p>
            <a:pPr algn="ctr"/>
            <a:r>
              <a:rPr lang="es-ES" sz="2000" b="1" dirty="0"/>
              <a:t>La calidad del producto se mejora.</a:t>
            </a:r>
          </a:p>
        </p:txBody>
      </p:sp>
      <p:pic>
        <p:nvPicPr>
          <p:cNvPr id="13" name="3 Imagen">
            <a:extLst>
              <a:ext uri="{FF2B5EF4-FFF2-40B4-BE49-F238E27FC236}">
                <a16:creationId xmlns:a16="http://schemas.microsoft.com/office/drawing/2014/main" id="{776E02FC-3EF4-49FA-8E8C-EA5A0B8552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02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5. Los elementos se clasifican en: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Tamaño, peso y color.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Materiales, máquinas y equipos, transporte y almacenaje, mobiliario e información.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Herramientas de mano o máquinas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Zonas de uso, logística y producción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6B9E31D-E2C2-431C-82DE-C81754A401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C9C8A593-032F-4BB2-A03B-F26933F44E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C1289F-0A9C-4198-ABB4-172E1F2BB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4699166C-B2E1-490F-9B53-BD1C734ACA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6. Según la frecuencia de uso: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29" y="4224749"/>
            <a:ext cx="6787259" cy="2092032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La frecuencia de uso no es importante para situar los elementos.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Lo que usamos cada muchos años lo guardamos en la zona de trabajo.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000" dirty="0">
                <a:solidFill>
                  <a:srgbClr val="383131"/>
                </a:solidFill>
              </a:rPr>
              <a:t>Lo que usamos todos los días lo ubicamos en el almacén exterior.</a:t>
            </a:r>
            <a:endParaRPr lang="es-ES" sz="2000" dirty="0"/>
          </a:p>
          <a:p>
            <a:pPr marL="457189" indent="-457189">
              <a:buFont typeface="+mj-lt"/>
              <a:buAutoNum type="alphaUcPeriod"/>
            </a:pPr>
            <a:r>
              <a:rPr lang="es-ES" sz="2000" dirty="0"/>
              <a:t>Lo que usamos todos los días lo ubicamos en la zona de trabajo</a:t>
            </a:r>
            <a:r>
              <a:rPr lang="es-ES" sz="2000" dirty="0">
                <a:solidFill>
                  <a:srgbClr val="253746"/>
                </a:solidFill>
              </a:rPr>
              <a:t>.</a:t>
            </a:r>
            <a:endParaRPr lang="es-ES" sz="20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CEE45A8-DE79-4A14-A482-9D2EB87510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30FDA779-53E1-49A7-9BD1-27F6A31886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12FD89D-F4B1-4880-BDB9-37B4462C8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7E4E6F8E-95EE-4348-ACBD-5CD5CAC12A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7. El color naranja del etiquetado de innecesarios es: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400" dirty="0"/>
              <a:t>Enviar a la “JAULA”</a:t>
            </a:r>
            <a:r>
              <a:rPr lang="es-ES" sz="2400" dirty="0">
                <a:solidFill>
                  <a:srgbClr val="383131"/>
                </a:solidFill>
              </a:rPr>
              <a:t>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>
                <a:solidFill>
                  <a:srgbClr val="383131"/>
                </a:solidFill>
              </a:rPr>
              <a:t>El color no tiene significado alguno. 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Cuestionar si se envía a la “JAULA”.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Enviar fuera de la zona de trabajo</a:t>
            </a:r>
            <a:r>
              <a:rPr lang="es-ES" sz="2400" dirty="0">
                <a:solidFill>
                  <a:srgbClr val="253746"/>
                </a:solidFill>
              </a:rPr>
              <a:t>.</a:t>
            </a:r>
            <a:endParaRPr lang="es-ES" sz="24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399B300C-F701-44F0-B4AA-3FB594DBD0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90663B45-8236-4217-BFD8-839F108359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E1F84A-8CF1-4A08-8C9F-51989498F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DC646075-432D-4E48-9992-ABA06EB817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4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1761129" y="2899186"/>
            <a:ext cx="7282209" cy="1325563"/>
          </a:xfrm>
        </p:spPr>
        <p:txBody>
          <a:bodyPr>
            <a:normAutofit/>
          </a:bodyPr>
          <a:lstStyle/>
          <a:p>
            <a:r>
              <a:rPr lang="es-ES" sz="2800" dirty="0"/>
              <a:t>8. Marca la respuesta correcta: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761130" y="4049372"/>
            <a:ext cx="6787259" cy="2092032"/>
          </a:xfrm>
        </p:spPr>
        <p:txBody>
          <a:bodyPr>
            <a:normAutofit fontScale="92500" lnSpcReduction="10000"/>
          </a:bodyPr>
          <a:lstStyle/>
          <a:p>
            <a:pPr marL="457189" indent="-457189">
              <a:buFont typeface="+mj-lt"/>
              <a:buAutoNum type="alphaUcPeriod"/>
            </a:pPr>
            <a:r>
              <a:rPr lang="es-ES" sz="2400" dirty="0"/>
              <a:t>La 2ª S facilita y mejorar el control visual.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>
                <a:solidFill>
                  <a:srgbClr val="383131"/>
                </a:solidFill>
              </a:rPr>
              <a:t>La 2ª S facilita el mantenimiento autónomo de máquinas, evitando averías.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200" dirty="0"/>
              <a:t>El objetivo particular de la 2ª S es aprovechar lugares despejados.</a:t>
            </a:r>
          </a:p>
          <a:p>
            <a:pPr marL="457189" indent="-457189">
              <a:buFont typeface="+mj-lt"/>
              <a:buAutoNum type="alphaUcPeriod"/>
            </a:pPr>
            <a:r>
              <a:rPr lang="es-ES" sz="2400" dirty="0"/>
              <a:t>La A y B son correctas</a:t>
            </a:r>
            <a:r>
              <a:rPr lang="es-ES" sz="2400" dirty="0">
                <a:solidFill>
                  <a:srgbClr val="253746"/>
                </a:solidFill>
              </a:rPr>
              <a:t>.</a:t>
            </a:r>
            <a:endParaRPr lang="es-ES" sz="2400" dirty="0"/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F6820E35-C703-4B35-960E-042B450299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7" name="3 Imagen">
            <a:extLst>
              <a:ext uri="{FF2B5EF4-FFF2-40B4-BE49-F238E27FC236}">
                <a16:creationId xmlns:a16="http://schemas.microsoft.com/office/drawing/2014/main" id="{337375D3-CBFF-4FFB-B14E-AE24FD8BCB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15B20B-1379-4C8D-AB32-3DD693DC2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9" name="3 Imagen">
            <a:extLst>
              <a:ext uri="{FF2B5EF4-FFF2-40B4-BE49-F238E27FC236}">
                <a16:creationId xmlns:a16="http://schemas.microsoft.com/office/drawing/2014/main" id="{6A4DF708-290C-4DBE-B651-83D7BA90AB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01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3448969" y="1525965"/>
            <a:ext cx="4229788" cy="1739497"/>
          </a:xfrm>
        </p:spPr>
        <p:txBody>
          <a:bodyPr/>
          <a:lstStyle/>
          <a:p>
            <a:r>
              <a:rPr lang="es-ES" dirty="0"/>
              <a:t>Respuestas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51532" y="3409266"/>
            <a:ext cx="7886700" cy="4578794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D</a:t>
            </a:r>
          </a:p>
          <a:p>
            <a:pPr>
              <a:buFont typeface="+mj-lt"/>
              <a:buAutoNum type="arabicPeriod"/>
            </a:pPr>
            <a:r>
              <a:rPr lang="es-ES" dirty="0"/>
              <a:t>A</a:t>
            </a:r>
          </a:p>
          <a:p>
            <a:pPr>
              <a:buFont typeface="+mj-lt"/>
              <a:buAutoNum type="arabicPeriod"/>
            </a:pPr>
            <a:r>
              <a:rPr lang="es-ES" dirty="0"/>
              <a:t>C</a:t>
            </a:r>
          </a:p>
          <a:p>
            <a:pPr marL="0" indent="0">
              <a:buNone/>
            </a:pPr>
            <a:r>
              <a:rPr lang="es-ES" dirty="0"/>
              <a:t>Nota :El sistema debe tener el resultado correcto, si las respuestas no se corresponden al 100%, no le permite avanzar y debe volver a realizar el cuestionario.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3 Imagen">
            <a:extLst>
              <a:ext uri="{FF2B5EF4-FFF2-40B4-BE49-F238E27FC236}">
                <a16:creationId xmlns:a16="http://schemas.microsoft.com/office/drawing/2014/main" id="{5AD1F465-9833-45A0-889A-E47EC35DC3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37"/>
          <a:stretch/>
        </p:blipFill>
        <p:spPr>
          <a:xfrm>
            <a:off x="0" y="4004"/>
            <a:ext cx="9144000" cy="681317"/>
          </a:xfrm>
          <a:prstGeom prst="rect">
            <a:avLst/>
          </a:prstGeom>
        </p:spPr>
      </p:pic>
      <p:pic>
        <p:nvPicPr>
          <p:cNvPr id="6" name="3 Imagen">
            <a:extLst>
              <a:ext uri="{FF2B5EF4-FFF2-40B4-BE49-F238E27FC236}">
                <a16:creationId xmlns:a16="http://schemas.microsoft.com/office/drawing/2014/main" id="{84843166-BFFC-4FCB-A715-6B3AD024B2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9" t="15398" b="20737"/>
          <a:stretch/>
        </p:blipFill>
        <p:spPr>
          <a:xfrm>
            <a:off x="0" y="8329410"/>
            <a:ext cx="9144000" cy="681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173710-9452-4AE7-8732-BE48EA897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4" y="1344711"/>
            <a:ext cx="1593329" cy="1925273"/>
          </a:xfrm>
          <a:prstGeom prst="rect">
            <a:avLst/>
          </a:prstGeom>
        </p:spPr>
      </p:pic>
      <p:pic>
        <p:nvPicPr>
          <p:cNvPr id="8" name="3 Imagen">
            <a:extLst>
              <a:ext uri="{FF2B5EF4-FFF2-40B4-BE49-F238E27FC236}">
                <a16:creationId xmlns:a16="http://schemas.microsoft.com/office/drawing/2014/main" id="{C120CD47-BE8D-4BD7-8064-DB7C96E5C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82" y="306941"/>
            <a:ext cx="886432" cy="8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909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61576</TotalTime>
  <Words>1301</Words>
  <Application>Microsoft Office PowerPoint</Application>
  <PresentationFormat>Personalizado</PresentationFormat>
  <Paragraphs>191</Paragraphs>
  <Slides>18</Slides>
  <Notes>15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PTSansRegular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1. La 3ª S consiste en:</vt:lpstr>
      <vt:lpstr>2. Una ventaja importante al aplicar la 3ª S es:</vt:lpstr>
      <vt:lpstr>3. Un criterio para realizar correctamente la 3ª S es:</vt:lpstr>
      <vt:lpstr>4. La 3ª S es:</vt:lpstr>
      <vt:lpstr>5. Los elementos se clasifican en:</vt:lpstr>
      <vt:lpstr>6. Según la frecuencia de uso:</vt:lpstr>
      <vt:lpstr>7. El color naranja del etiquetado de innecesarios es:</vt:lpstr>
      <vt:lpstr>8. Marca la respuesta correcta:</vt:lpstr>
      <vt:lpstr>Respuestas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58433</dc:creator>
  <cp:lastModifiedBy>58433</cp:lastModifiedBy>
  <cp:revision>425</cp:revision>
  <cp:lastPrinted>2020-06-19T04:01:57Z</cp:lastPrinted>
  <dcterms:created xsi:type="dcterms:W3CDTF">2020-02-20T09:48:31Z</dcterms:created>
  <dcterms:modified xsi:type="dcterms:W3CDTF">2020-07-10T11:51:00Z</dcterms:modified>
</cp:coreProperties>
</file>